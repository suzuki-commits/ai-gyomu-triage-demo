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01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56032" cy="6858000"/>
          </a:xfrm>
          <a:prstGeom prst="rect">
            <a:avLst/>
          </a:prstGeom>
          <a:solidFill>
            <a:srgbClr val="E06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69680" y="5120640"/>
            <a:ext cx="3319272" cy="1737360"/>
          </a:xfrm>
          <a:prstGeom prst="rect">
            <a:avLst/>
          </a:prstGeom>
          <a:solidFill>
            <a:srgbClr val="3947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869680" y="5120640"/>
            <a:ext cx="3319272" cy="38100"/>
          </a:xfrm>
          <a:prstGeom prst="rect">
            <a:avLst/>
          </a:prstGeom>
          <a:solidFill>
            <a:srgbClr val="C6A0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051560"/>
            <a:ext cx="10515600" cy="502920"/>
          </a:xfrm>
          <a:prstGeom prst="rect">
            <a:avLst/>
          </a:prstGeom>
          <a:noFill/>
        </p:spPr>
        <p:txBody>
          <a:bodyPr wrap="square" anchor="t" lIns="50800" rIns="50800" tIns="25400" bIns="25400">
            <a:spAutoFit/>
          </a:bodyPr>
          <a:lstStyle/>
          <a:p>
            <a:pPr algn="l">
              <a:lnSpc>
                <a:spcPct val="110000"/>
              </a:lnSpc>
              <a:spcAft>
                <a:spcPts val="400"/>
              </a:spcAft>
            </a:pPr>
            <a:r>
              <a:rPr sz="1600" b="1" spc="300">
                <a:solidFill>
                  <a:srgbClr val="C6A04C"/>
                </a:solidFill>
                <a:latin typeface="Meiryo"/>
                <a:ea typeface="Meiryo"/>
              </a:rPr>
              <a:t>BUSINESS  AUTOMATION  TRIAGE</a:t>
            </a:r>
          </a:p>
        </p:txBody>
      </p:sp>
      <p:cxnSp>
        <p:nvCxnSpPr>
          <p:cNvPr id="8" name="Connector 7"/>
          <p:cNvCxnSpPr/>
          <p:nvPr/>
        </p:nvCxnSpPr>
        <p:spPr>
          <a:xfrm>
            <a:off x="914400" y="1627632"/>
            <a:ext cx="2194560" cy="0"/>
          </a:xfrm>
          <a:prstGeom prst="bentConnector3">
            <a:avLst/>
          </a:prstGeom>
          <a:ln w="31750">
            <a:solidFill>
              <a:srgbClr val="E0662A"/>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41248" y="1874519"/>
            <a:ext cx="10607040" cy="1463040"/>
          </a:xfrm>
          <a:prstGeom prst="rect">
            <a:avLst/>
          </a:prstGeom>
          <a:noFill/>
        </p:spPr>
        <p:txBody>
          <a:bodyPr wrap="square" anchor="t" lIns="50800" rIns="50800" tIns="25400" bIns="25400">
            <a:spAutoFit/>
          </a:bodyPr>
          <a:lstStyle/>
          <a:p>
            <a:pPr algn="l">
              <a:lnSpc>
                <a:spcPct val="102000"/>
              </a:lnSpc>
              <a:spcAft>
                <a:spcPts val="400"/>
              </a:spcAft>
            </a:pPr>
            <a:r>
              <a:rPr sz="4400" b="1">
                <a:solidFill>
                  <a:srgbClr val="FFFFFF"/>
                </a:solidFill>
                <a:latin typeface="Meiryo"/>
                <a:ea typeface="Meiryo"/>
              </a:rPr>
              <a:t>株式会社コミクス</a:t>
            </a:r>
          </a:p>
        </p:txBody>
      </p:sp>
      <p:sp>
        <p:nvSpPr>
          <p:cNvPr id="10" name="TextBox 9"/>
          <p:cNvSpPr txBox="1"/>
          <p:nvPr/>
        </p:nvSpPr>
        <p:spPr>
          <a:xfrm>
            <a:off x="868680" y="3429000"/>
            <a:ext cx="10515600" cy="868680"/>
          </a:xfrm>
          <a:prstGeom prst="rect">
            <a:avLst/>
          </a:prstGeom>
          <a:noFill/>
        </p:spPr>
        <p:txBody>
          <a:bodyPr wrap="square" anchor="t" lIns="50800" rIns="50800" tIns="25400" bIns="25400">
            <a:spAutoFit/>
          </a:bodyPr>
          <a:lstStyle/>
          <a:p>
            <a:pPr algn="l">
              <a:lnSpc>
                <a:spcPct val="110000"/>
              </a:lnSpc>
              <a:spcAft>
                <a:spcPts val="400"/>
              </a:spcAft>
            </a:pPr>
            <a:r>
              <a:rPr sz="2100" b="0">
                <a:solidFill>
                  <a:srgbClr val="C4CCDC"/>
                </a:solidFill>
                <a:latin typeface="Meiryo"/>
                <a:ea typeface="Meiryo"/>
              </a:rPr>
              <a:t>業務 AI トリアージ ─ 自動化 / 協働 / 人間専任の分類と優先度設計</a:t>
            </a:r>
          </a:p>
        </p:txBody>
      </p:sp>
      <p:sp>
        <p:nvSpPr>
          <p:cNvPr id="11" name="Rectangle 10"/>
          <p:cNvSpPr/>
          <p:nvPr/>
        </p:nvSpPr>
        <p:spPr>
          <a:xfrm>
            <a:off x="868680" y="4370832"/>
            <a:ext cx="10424160" cy="25400"/>
          </a:xfrm>
          <a:prstGeom prst="rect">
            <a:avLst/>
          </a:prstGeom>
          <a:solidFill>
            <a:srgbClr val="33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617720"/>
            <a:ext cx="10424160" cy="548640"/>
          </a:xfrm>
          <a:prstGeom prst="rect">
            <a:avLst/>
          </a:prstGeom>
          <a:noFill/>
        </p:spPr>
        <p:txBody>
          <a:bodyPr wrap="square" anchor="t" lIns="50800" rIns="50800" tIns="25400" bIns="25400">
            <a:spAutoFit/>
          </a:bodyPr>
          <a:lstStyle/>
          <a:p>
            <a:pPr algn="l">
              <a:lnSpc>
                <a:spcPct val="110000"/>
              </a:lnSpc>
              <a:spcAft>
                <a:spcPts val="400"/>
              </a:spcAft>
            </a:pPr>
            <a:r>
              <a:rPr sz="2300" b="1">
                <a:solidFill>
                  <a:srgbClr val="FFFFFF"/>
                </a:solidFill>
                <a:latin typeface="Meiryo"/>
                <a:ea typeface="Meiryo"/>
              </a:rPr>
              <a:t>代表取締役　鈴木章裕 様 へのご提言</a:t>
            </a:r>
          </a:p>
        </p:txBody>
      </p:sp>
      <p:sp>
        <p:nvSpPr>
          <p:cNvPr id="13" name="TextBox 12"/>
          <p:cNvSpPr txBox="1"/>
          <p:nvPr/>
        </p:nvSpPr>
        <p:spPr>
          <a:xfrm>
            <a:off x="868680" y="5285232"/>
            <a:ext cx="7772400" cy="457200"/>
          </a:xfrm>
          <a:prstGeom prst="rect">
            <a:avLst/>
          </a:prstGeom>
          <a:noFill/>
        </p:spPr>
        <p:txBody>
          <a:bodyPr wrap="square" anchor="t" lIns="50800" rIns="50800" tIns="25400" bIns="25400">
            <a:spAutoFit/>
          </a:bodyPr>
          <a:lstStyle/>
          <a:p>
            <a:pPr algn="l">
              <a:lnSpc>
                <a:spcPct val="110000"/>
              </a:lnSpc>
              <a:spcAft>
                <a:spcPts val="400"/>
              </a:spcAft>
            </a:pPr>
            <a:r>
              <a:rPr sz="1500" b="0">
                <a:solidFill>
                  <a:srgbClr val="9AA6B8"/>
                </a:solidFill>
                <a:latin typeface="Meiryo"/>
                <a:ea typeface="Meiryo"/>
              </a:rPr>
              <a:t>分析日　2026-07-18</a:t>
            </a:r>
          </a:p>
        </p:txBody>
      </p:sp>
      <p:sp>
        <p:nvSpPr>
          <p:cNvPr id="14" name="TextBox 13"/>
          <p:cNvSpPr txBox="1"/>
          <p:nvPr/>
        </p:nvSpPr>
        <p:spPr>
          <a:xfrm>
            <a:off x="868680" y="5687568"/>
            <a:ext cx="7772400" cy="548640"/>
          </a:xfrm>
          <a:prstGeom prst="rect">
            <a:avLst/>
          </a:prstGeom>
          <a:noFill/>
        </p:spPr>
        <p:txBody>
          <a:bodyPr wrap="square" anchor="t" lIns="50800" rIns="50800" tIns="25400" bIns="25400">
            <a:spAutoFit/>
          </a:bodyPr>
          <a:lstStyle/>
          <a:p>
            <a:pPr algn="l">
              <a:lnSpc>
                <a:spcPct val="110000"/>
              </a:lnSpc>
              <a:spcAft>
                <a:spcPts val="400"/>
              </a:spcAft>
            </a:pPr>
            <a:r>
              <a:rPr sz="1400" b="0">
                <a:solidFill>
                  <a:srgbClr val="8A95AC"/>
                </a:solidFill>
                <a:latin typeface="Meiryo"/>
                <a:ea typeface="Meiryo"/>
              </a:rPr>
              <a:t>デジタルマーケティング・広告代理店（DX支援・SaaS事業者支援・生成AI活用支援）</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87552"/>
          </a:xfrm>
          <a:prstGeom prst="rect">
            <a:avLst/>
          </a:prstGeom>
          <a:solidFill>
            <a:srgbClr val="22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987552"/>
          </a:xfrm>
          <a:prstGeom prst="rect">
            <a:avLst/>
          </a:prstGeom>
          <a:solidFill>
            <a:srgbClr val="E06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87552"/>
            <a:ext cx="12191695" cy="30480"/>
          </a:xfrm>
          <a:prstGeom prst="rect">
            <a:avLst/>
          </a:prstGeom>
          <a:solidFill>
            <a:srgbClr val="C6A0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0"/>
            <a:ext cx="10424160" cy="987552"/>
          </a:xfrm>
          <a:prstGeom prst="rect">
            <a:avLst/>
          </a:prstGeom>
          <a:noFill/>
        </p:spPr>
        <p:txBody>
          <a:bodyPr wrap="square" anchor="ctr" lIns="50800" rIns="50800" tIns="25400" bIns="25400">
            <a:spAutoFit/>
          </a:bodyPr>
          <a:lstStyle/>
          <a:p>
            <a:pPr algn="l">
              <a:lnSpc>
                <a:spcPct val="110000"/>
              </a:lnSpc>
              <a:spcAft>
                <a:spcPts val="400"/>
              </a:spcAft>
            </a:pPr>
            <a:r>
              <a:rPr sz="3000" b="1">
                <a:solidFill>
                  <a:srgbClr val="FFFFFF"/>
                </a:solidFill>
                <a:latin typeface="Meiryo"/>
                <a:ea typeface="Meiryo"/>
              </a:rPr>
              <a:t>エグゼクティブサマリ</a:t>
            </a:r>
          </a:p>
        </p:txBody>
      </p:sp>
      <p:cxnSp>
        <p:nvCxnSpPr>
          <p:cNvPr id="7" name="Connector 6"/>
          <p:cNvCxnSpPr/>
          <p:nvPr/>
        </p:nvCxnSpPr>
        <p:spPr>
          <a:xfrm>
            <a:off x="502920" y="6437376"/>
            <a:ext cx="11183112" cy="0"/>
          </a:xfrm>
          <a:prstGeom prst="bentConnector3">
            <a:avLst/>
          </a:prstGeom>
          <a:ln w="9525">
            <a:solidFill>
              <a:srgbClr val="D5DAE5"/>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7315200" cy="310896"/>
          </a:xfrm>
          <a:prstGeom prst="rect">
            <a:avLst/>
          </a:prstGeom>
          <a:noFill/>
        </p:spPr>
        <p:txBody>
          <a:bodyPr wrap="square" anchor="ctr" lIns="50800" rIns="50800" tIns="25400" bIns="25400">
            <a:spAutoFit/>
          </a:bodyPr>
          <a:lstStyle/>
          <a:p>
            <a:pPr algn="l">
              <a:lnSpc>
                <a:spcPct val="110000"/>
              </a:lnSpc>
              <a:spcAft>
                <a:spcPts val="400"/>
              </a:spcAft>
            </a:pPr>
            <a:r>
              <a:rPr sz="1100" b="0">
                <a:solidFill>
                  <a:srgbClr val="8A95AC"/>
                </a:solidFill>
                <a:latin typeface="Meiryo"/>
                <a:ea typeface="Meiryo"/>
              </a:rPr>
              <a:t>株式会社コミクス　│　AI 業務トリアージ</a:t>
            </a:r>
          </a:p>
        </p:txBody>
      </p:sp>
      <p:sp>
        <p:nvSpPr>
          <p:cNvPr id="9" name="TextBox 8"/>
          <p:cNvSpPr txBox="1"/>
          <p:nvPr/>
        </p:nvSpPr>
        <p:spPr>
          <a:xfrm>
            <a:off x="9857232" y="6473952"/>
            <a:ext cx="1828800" cy="310896"/>
          </a:xfrm>
          <a:prstGeom prst="rect">
            <a:avLst/>
          </a:prstGeom>
          <a:noFill/>
        </p:spPr>
        <p:txBody>
          <a:bodyPr wrap="square" anchor="ctr" lIns="50800" rIns="50800" tIns="25400" bIns="25400">
            <a:spAutoFit/>
          </a:bodyPr>
          <a:lstStyle/>
          <a:p>
            <a:pPr algn="r">
              <a:lnSpc>
                <a:spcPct val="110000"/>
              </a:lnSpc>
              <a:spcAft>
                <a:spcPts val="400"/>
              </a:spcAft>
            </a:pPr>
            <a:r>
              <a:rPr sz="1200" b="1">
                <a:solidFill>
                  <a:srgbClr val="394773"/>
                </a:solidFill>
                <a:latin typeface="Meiryo"/>
                <a:ea typeface="Meiryo"/>
              </a:rPr>
              <a:t>02 / 12</a:t>
            </a:r>
          </a:p>
        </p:txBody>
      </p:sp>
      <p:sp>
        <p:nvSpPr>
          <p:cNvPr id="10" name="Rectangle 9"/>
          <p:cNvSpPr/>
          <p:nvPr/>
        </p:nvSpPr>
        <p:spPr>
          <a:xfrm>
            <a:off x="548640" y="1298448"/>
            <a:ext cx="3593592" cy="1874519"/>
          </a:xfrm>
          <a:prstGeom prst="rect">
            <a:avLst/>
          </a:prstGeom>
          <a:solidFill>
            <a:srgbClr val="F5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298448"/>
            <a:ext cx="3593592" cy="109728"/>
          </a:xfrm>
          <a:prstGeom prst="rect">
            <a:avLst/>
          </a:prstGeom>
          <a:solidFill>
            <a:srgbClr val="1E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1554480"/>
            <a:ext cx="3090672" cy="502920"/>
          </a:xfrm>
          <a:prstGeom prst="rect">
            <a:avLst/>
          </a:prstGeom>
          <a:noFill/>
        </p:spPr>
        <p:txBody>
          <a:bodyPr wrap="square" anchor="t" lIns="50800" rIns="50800" tIns="25400" bIns="25400">
            <a:spAutoFit/>
          </a:bodyPr>
          <a:lstStyle/>
          <a:p>
            <a:pPr algn="l">
              <a:lnSpc>
                <a:spcPct val="110000"/>
              </a:lnSpc>
              <a:spcAft>
                <a:spcPts val="400"/>
              </a:spcAft>
            </a:pPr>
            <a:r>
              <a:rPr sz="2000" b="1">
                <a:solidFill>
                  <a:srgbClr val="1E7A5E"/>
                </a:solidFill>
                <a:latin typeface="Meiryo"/>
                <a:ea typeface="Meiryo"/>
              </a:rPr>
              <a:t>🤖  自動化推奨</a:t>
            </a:r>
          </a:p>
        </p:txBody>
      </p:sp>
      <p:sp>
        <p:nvSpPr>
          <p:cNvPr id="13" name="TextBox 12"/>
          <p:cNvSpPr txBox="1"/>
          <p:nvPr/>
        </p:nvSpPr>
        <p:spPr>
          <a:xfrm>
            <a:off x="822960" y="2048256"/>
            <a:ext cx="3090672" cy="914400"/>
          </a:xfrm>
          <a:prstGeom prst="rect">
            <a:avLst/>
          </a:prstGeom>
          <a:noFill/>
        </p:spPr>
        <p:txBody>
          <a:bodyPr wrap="square" anchor="t" lIns="50800" rIns="50800" tIns="25400" bIns="25400">
            <a:spAutoFit/>
          </a:bodyPr>
          <a:lstStyle/>
          <a:p>
            <a:pPr algn="l">
              <a:lnSpc>
                <a:spcPct val="110000"/>
              </a:lnSpc>
              <a:spcAft>
                <a:spcPts val="400"/>
              </a:spcAft>
            </a:pPr>
            <a:r>
              <a:rPr sz="5400" b="1">
                <a:solidFill>
                  <a:srgbClr val="10162C"/>
                </a:solidFill>
                <a:latin typeface="Meiryo"/>
                <a:ea typeface="Meiryo"/>
              </a:rPr>
              <a:t>6</a:t>
            </a:r>
          </a:p>
        </p:txBody>
      </p:sp>
      <p:sp>
        <p:nvSpPr>
          <p:cNvPr id="14" name="TextBox 13"/>
          <p:cNvSpPr txBox="1"/>
          <p:nvPr/>
        </p:nvSpPr>
        <p:spPr>
          <a:xfrm>
            <a:off x="1965960" y="2377440"/>
            <a:ext cx="2011680" cy="548640"/>
          </a:xfrm>
          <a:prstGeom prst="rect">
            <a:avLst/>
          </a:prstGeom>
          <a:noFill/>
        </p:spPr>
        <p:txBody>
          <a:bodyPr wrap="square" anchor="ctr" lIns="50800" rIns="50800" tIns="25400" bIns="25400">
            <a:spAutoFit/>
          </a:bodyPr>
          <a:lstStyle/>
          <a:p>
            <a:pPr algn="l">
              <a:lnSpc>
                <a:spcPct val="110000"/>
              </a:lnSpc>
              <a:spcAft>
                <a:spcPts val="400"/>
              </a:spcAft>
            </a:pPr>
            <a:r>
              <a:rPr sz="1600" b="0">
                <a:solidFill>
                  <a:srgbClr val="3C4357"/>
                </a:solidFill>
                <a:latin typeface="Meiryo"/>
                <a:ea typeface="Meiryo"/>
              </a:rPr>
              <a:t>／ 15 件中</a:t>
            </a:r>
          </a:p>
        </p:txBody>
      </p:sp>
      <p:sp>
        <p:nvSpPr>
          <p:cNvPr id="15" name="Rectangle 14"/>
          <p:cNvSpPr/>
          <p:nvPr/>
        </p:nvSpPr>
        <p:spPr>
          <a:xfrm>
            <a:off x="4434840" y="1298448"/>
            <a:ext cx="3593592" cy="1874519"/>
          </a:xfrm>
          <a:prstGeom prst="rect">
            <a:avLst/>
          </a:prstGeom>
          <a:solidFill>
            <a:srgbClr val="F5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34840" y="1298448"/>
            <a:ext cx="3593592" cy="109728"/>
          </a:xfrm>
          <a:prstGeom prst="rect">
            <a:avLst/>
          </a:prstGeom>
          <a:solidFill>
            <a:srgbClr val="2B5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27448" y="1554480"/>
            <a:ext cx="3090672" cy="502920"/>
          </a:xfrm>
          <a:prstGeom prst="rect">
            <a:avLst/>
          </a:prstGeom>
          <a:noFill/>
        </p:spPr>
        <p:txBody>
          <a:bodyPr wrap="square" anchor="t" lIns="50800" rIns="50800" tIns="25400" bIns="25400">
            <a:spAutoFit/>
          </a:bodyPr>
          <a:lstStyle/>
          <a:p>
            <a:pPr algn="l">
              <a:lnSpc>
                <a:spcPct val="110000"/>
              </a:lnSpc>
              <a:spcAft>
                <a:spcPts val="400"/>
              </a:spcAft>
            </a:pPr>
            <a:r>
              <a:rPr sz="2000" b="1">
                <a:solidFill>
                  <a:srgbClr val="2B5797"/>
                </a:solidFill>
                <a:latin typeface="Meiryo"/>
                <a:ea typeface="Meiryo"/>
              </a:rPr>
              <a:t>🤝  協働</a:t>
            </a:r>
          </a:p>
        </p:txBody>
      </p:sp>
      <p:sp>
        <p:nvSpPr>
          <p:cNvPr id="18" name="TextBox 17"/>
          <p:cNvSpPr txBox="1"/>
          <p:nvPr/>
        </p:nvSpPr>
        <p:spPr>
          <a:xfrm>
            <a:off x="4709160" y="2048256"/>
            <a:ext cx="3090672" cy="914400"/>
          </a:xfrm>
          <a:prstGeom prst="rect">
            <a:avLst/>
          </a:prstGeom>
          <a:noFill/>
        </p:spPr>
        <p:txBody>
          <a:bodyPr wrap="square" anchor="t" lIns="50800" rIns="50800" tIns="25400" bIns="25400">
            <a:spAutoFit/>
          </a:bodyPr>
          <a:lstStyle/>
          <a:p>
            <a:pPr algn="l">
              <a:lnSpc>
                <a:spcPct val="110000"/>
              </a:lnSpc>
              <a:spcAft>
                <a:spcPts val="400"/>
              </a:spcAft>
            </a:pPr>
            <a:r>
              <a:rPr sz="5400" b="1">
                <a:solidFill>
                  <a:srgbClr val="10162C"/>
                </a:solidFill>
                <a:latin typeface="Meiryo"/>
                <a:ea typeface="Meiryo"/>
              </a:rPr>
              <a:t>6</a:t>
            </a:r>
          </a:p>
        </p:txBody>
      </p:sp>
      <p:sp>
        <p:nvSpPr>
          <p:cNvPr id="19" name="TextBox 18"/>
          <p:cNvSpPr txBox="1"/>
          <p:nvPr/>
        </p:nvSpPr>
        <p:spPr>
          <a:xfrm>
            <a:off x="5852160" y="2377440"/>
            <a:ext cx="2011680" cy="548640"/>
          </a:xfrm>
          <a:prstGeom prst="rect">
            <a:avLst/>
          </a:prstGeom>
          <a:noFill/>
        </p:spPr>
        <p:txBody>
          <a:bodyPr wrap="square" anchor="ctr" lIns="50800" rIns="50800" tIns="25400" bIns="25400">
            <a:spAutoFit/>
          </a:bodyPr>
          <a:lstStyle/>
          <a:p>
            <a:pPr algn="l">
              <a:lnSpc>
                <a:spcPct val="110000"/>
              </a:lnSpc>
              <a:spcAft>
                <a:spcPts val="400"/>
              </a:spcAft>
            </a:pPr>
            <a:r>
              <a:rPr sz="1600" b="0">
                <a:solidFill>
                  <a:srgbClr val="3C4357"/>
                </a:solidFill>
                <a:latin typeface="Meiryo"/>
                <a:ea typeface="Meiryo"/>
              </a:rPr>
              <a:t>／ 15 件中</a:t>
            </a:r>
          </a:p>
        </p:txBody>
      </p:sp>
      <p:sp>
        <p:nvSpPr>
          <p:cNvPr id="20" name="Rectangle 19"/>
          <p:cNvSpPr/>
          <p:nvPr/>
        </p:nvSpPr>
        <p:spPr>
          <a:xfrm>
            <a:off x="8321040" y="1298448"/>
            <a:ext cx="3593592" cy="1874519"/>
          </a:xfrm>
          <a:prstGeom prst="rect">
            <a:avLst/>
          </a:prstGeom>
          <a:solidFill>
            <a:srgbClr val="F5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1040" y="1298448"/>
            <a:ext cx="3593592" cy="109728"/>
          </a:xfrm>
          <a:prstGeom prst="rect">
            <a:avLst/>
          </a:prstGeom>
          <a:solidFill>
            <a:srgbClr val="8C3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13648" y="1554480"/>
            <a:ext cx="3090672" cy="502920"/>
          </a:xfrm>
          <a:prstGeom prst="rect">
            <a:avLst/>
          </a:prstGeom>
          <a:noFill/>
        </p:spPr>
        <p:txBody>
          <a:bodyPr wrap="square" anchor="t" lIns="50800" rIns="50800" tIns="25400" bIns="25400">
            <a:spAutoFit/>
          </a:bodyPr>
          <a:lstStyle/>
          <a:p>
            <a:pPr algn="l">
              <a:lnSpc>
                <a:spcPct val="110000"/>
              </a:lnSpc>
              <a:spcAft>
                <a:spcPts val="400"/>
              </a:spcAft>
            </a:pPr>
            <a:r>
              <a:rPr sz="2000" b="1">
                <a:solidFill>
                  <a:srgbClr val="8C3463"/>
                </a:solidFill>
                <a:latin typeface="Meiryo"/>
                <a:ea typeface="Meiryo"/>
              </a:rPr>
              <a:t>👤  人間専任</a:t>
            </a:r>
          </a:p>
        </p:txBody>
      </p:sp>
      <p:sp>
        <p:nvSpPr>
          <p:cNvPr id="23" name="TextBox 22"/>
          <p:cNvSpPr txBox="1"/>
          <p:nvPr/>
        </p:nvSpPr>
        <p:spPr>
          <a:xfrm>
            <a:off x="8595360" y="2048256"/>
            <a:ext cx="3090672" cy="914400"/>
          </a:xfrm>
          <a:prstGeom prst="rect">
            <a:avLst/>
          </a:prstGeom>
          <a:noFill/>
        </p:spPr>
        <p:txBody>
          <a:bodyPr wrap="square" anchor="t" lIns="50800" rIns="50800" tIns="25400" bIns="25400">
            <a:spAutoFit/>
          </a:bodyPr>
          <a:lstStyle/>
          <a:p>
            <a:pPr algn="l">
              <a:lnSpc>
                <a:spcPct val="110000"/>
              </a:lnSpc>
              <a:spcAft>
                <a:spcPts val="400"/>
              </a:spcAft>
            </a:pPr>
            <a:r>
              <a:rPr sz="5400" b="1">
                <a:solidFill>
                  <a:srgbClr val="10162C"/>
                </a:solidFill>
                <a:latin typeface="Meiryo"/>
                <a:ea typeface="Meiryo"/>
              </a:rPr>
              <a:t>3</a:t>
            </a:r>
          </a:p>
        </p:txBody>
      </p:sp>
      <p:sp>
        <p:nvSpPr>
          <p:cNvPr id="24" name="TextBox 23"/>
          <p:cNvSpPr txBox="1"/>
          <p:nvPr/>
        </p:nvSpPr>
        <p:spPr>
          <a:xfrm>
            <a:off x="9738360" y="2377440"/>
            <a:ext cx="2011680" cy="548640"/>
          </a:xfrm>
          <a:prstGeom prst="rect">
            <a:avLst/>
          </a:prstGeom>
          <a:noFill/>
        </p:spPr>
        <p:txBody>
          <a:bodyPr wrap="square" anchor="ctr" lIns="50800" rIns="50800" tIns="25400" bIns="25400">
            <a:spAutoFit/>
          </a:bodyPr>
          <a:lstStyle/>
          <a:p>
            <a:pPr algn="l">
              <a:lnSpc>
                <a:spcPct val="110000"/>
              </a:lnSpc>
              <a:spcAft>
                <a:spcPts val="400"/>
              </a:spcAft>
            </a:pPr>
            <a:r>
              <a:rPr sz="1600" b="0">
                <a:solidFill>
                  <a:srgbClr val="3C4357"/>
                </a:solidFill>
                <a:latin typeface="Meiryo"/>
                <a:ea typeface="Meiryo"/>
              </a:rPr>
              <a:t>／ 15 件中</a:t>
            </a:r>
          </a:p>
        </p:txBody>
      </p:sp>
      <p:sp>
        <p:nvSpPr>
          <p:cNvPr id="25" name="Rectangle 24"/>
          <p:cNvSpPr/>
          <p:nvPr/>
        </p:nvSpPr>
        <p:spPr>
          <a:xfrm>
            <a:off x="548640" y="3493008"/>
            <a:ext cx="11137392" cy="2542032"/>
          </a:xfrm>
          <a:prstGeom prst="rect">
            <a:avLst/>
          </a:prstGeom>
          <a:solidFill>
            <a:srgbClr val="F5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93008"/>
            <a:ext cx="128016" cy="2542032"/>
          </a:xfrm>
          <a:prstGeom prst="rect">
            <a:avLst/>
          </a:prstGeom>
          <a:solidFill>
            <a:srgbClr val="E06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3657600"/>
            <a:ext cx="10607040" cy="411480"/>
          </a:xfrm>
          <a:prstGeom prst="rect">
            <a:avLst/>
          </a:prstGeom>
          <a:noFill/>
        </p:spPr>
        <p:txBody>
          <a:bodyPr wrap="square" anchor="t" lIns="50800" rIns="50800" tIns="25400" bIns="25400">
            <a:spAutoFit/>
          </a:bodyPr>
          <a:lstStyle/>
          <a:p>
            <a:pPr algn="l">
              <a:lnSpc>
                <a:spcPct val="110000"/>
              </a:lnSpc>
              <a:spcAft>
                <a:spcPts val="400"/>
              </a:spcAft>
            </a:pPr>
            <a:r>
              <a:rPr sz="1700" b="1">
                <a:solidFill>
                  <a:srgbClr val="E0662A"/>
                </a:solidFill>
                <a:latin typeface="Meiryo"/>
                <a:ea typeface="Meiryo"/>
              </a:rPr>
              <a:t>総括</a:t>
            </a:r>
          </a:p>
        </p:txBody>
      </p:sp>
      <p:sp>
        <p:nvSpPr>
          <p:cNvPr id="28" name="TextBox 27"/>
          <p:cNvSpPr txBox="1"/>
          <p:nvPr/>
        </p:nvSpPr>
        <p:spPr>
          <a:xfrm>
            <a:off x="868680" y="4114800"/>
            <a:ext cx="10607040" cy="1828800"/>
          </a:xfrm>
          <a:prstGeom prst="rect">
            <a:avLst/>
          </a:prstGeom>
          <a:noFill/>
        </p:spPr>
        <p:txBody>
          <a:bodyPr wrap="square" anchor="t" lIns="50800" rIns="50800" tIns="25400" bIns="25400">
            <a:spAutoFit/>
          </a:bodyPr>
          <a:lstStyle/>
          <a:p>
            <a:pPr algn="l">
              <a:lnSpc>
                <a:spcPct val="122000"/>
              </a:lnSpc>
              <a:spcAft>
                <a:spcPts val="400"/>
              </a:spcAft>
            </a:pPr>
            <a:r>
              <a:rPr sz="2100" b="0">
                <a:solidFill>
                  <a:srgbClr val="10162C"/>
                </a:solidFill>
                <a:latin typeface="Meiryo"/>
                <a:ea typeface="Meiryo"/>
              </a:rPr>
              <a:t>主要業務15件を分類（automate6/collaborate6/human3）。最優先クイックウィンはリスティング広告レポート自動化とkyozon掲載企業の一次スクリーニング。商談・契約締結・危機対応は引き続き人が担い、月20h超の定型工数削減と提案スピード向上を狙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87552"/>
          </a:xfrm>
          <a:prstGeom prst="rect">
            <a:avLst/>
          </a:prstGeom>
          <a:solidFill>
            <a:srgbClr val="22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987552"/>
          </a:xfrm>
          <a:prstGeom prst="rect">
            <a:avLst/>
          </a:prstGeom>
          <a:solidFill>
            <a:srgbClr val="E06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87552"/>
            <a:ext cx="12191695" cy="30480"/>
          </a:xfrm>
          <a:prstGeom prst="rect">
            <a:avLst/>
          </a:prstGeom>
          <a:solidFill>
            <a:srgbClr val="C6A0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0"/>
            <a:ext cx="10424160" cy="987552"/>
          </a:xfrm>
          <a:prstGeom prst="rect">
            <a:avLst/>
          </a:prstGeom>
          <a:noFill/>
        </p:spPr>
        <p:txBody>
          <a:bodyPr wrap="square" anchor="ctr" lIns="50800" rIns="50800" tIns="25400" bIns="25400">
            <a:spAutoFit/>
          </a:bodyPr>
          <a:lstStyle/>
          <a:p>
            <a:pPr algn="l">
              <a:lnSpc>
                <a:spcPct val="110000"/>
              </a:lnSpc>
              <a:spcAft>
                <a:spcPts val="400"/>
              </a:spcAft>
            </a:pPr>
            <a:r>
              <a:rPr sz="3000" b="1">
                <a:solidFill>
                  <a:srgbClr val="FFFFFF"/>
                </a:solidFill>
                <a:latin typeface="Meiryo"/>
                <a:ea typeface="Meiryo"/>
              </a:rPr>
              <a:t>事業概要</a:t>
            </a:r>
          </a:p>
        </p:txBody>
      </p:sp>
      <p:cxnSp>
        <p:nvCxnSpPr>
          <p:cNvPr id="7" name="Connector 6"/>
          <p:cNvCxnSpPr/>
          <p:nvPr/>
        </p:nvCxnSpPr>
        <p:spPr>
          <a:xfrm>
            <a:off x="502920" y="6437376"/>
            <a:ext cx="11183112" cy="0"/>
          </a:xfrm>
          <a:prstGeom prst="bentConnector3">
            <a:avLst/>
          </a:prstGeom>
          <a:ln w="9525">
            <a:solidFill>
              <a:srgbClr val="D5DAE5"/>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7315200" cy="310896"/>
          </a:xfrm>
          <a:prstGeom prst="rect">
            <a:avLst/>
          </a:prstGeom>
          <a:noFill/>
        </p:spPr>
        <p:txBody>
          <a:bodyPr wrap="square" anchor="ctr" lIns="50800" rIns="50800" tIns="25400" bIns="25400">
            <a:spAutoFit/>
          </a:bodyPr>
          <a:lstStyle/>
          <a:p>
            <a:pPr algn="l">
              <a:lnSpc>
                <a:spcPct val="110000"/>
              </a:lnSpc>
              <a:spcAft>
                <a:spcPts val="400"/>
              </a:spcAft>
            </a:pPr>
            <a:r>
              <a:rPr sz="1100" b="0">
                <a:solidFill>
                  <a:srgbClr val="8A95AC"/>
                </a:solidFill>
                <a:latin typeface="Meiryo"/>
                <a:ea typeface="Meiryo"/>
              </a:rPr>
              <a:t>株式会社コミクス　│　AI 業務トリアージ</a:t>
            </a:r>
          </a:p>
        </p:txBody>
      </p:sp>
      <p:sp>
        <p:nvSpPr>
          <p:cNvPr id="9" name="TextBox 8"/>
          <p:cNvSpPr txBox="1"/>
          <p:nvPr/>
        </p:nvSpPr>
        <p:spPr>
          <a:xfrm>
            <a:off x="9857232" y="6473952"/>
            <a:ext cx="1828800" cy="310896"/>
          </a:xfrm>
          <a:prstGeom prst="rect">
            <a:avLst/>
          </a:prstGeom>
          <a:noFill/>
        </p:spPr>
        <p:txBody>
          <a:bodyPr wrap="square" anchor="ctr" lIns="50800" rIns="50800" tIns="25400" bIns="25400">
            <a:spAutoFit/>
          </a:bodyPr>
          <a:lstStyle/>
          <a:p>
            <a:pPr algn="r">
              <a:lnSpc>
                <a:spcPct val="110000"/>
              </a:lnSpc>
              <a:spcAft>
                <a:spcPts val="400"/>
              </a:spcAft>
            </a:pPr>
            <a:r>
              <a:rPr sz="1200" b="1">
                <a:solidFill>
                  <a:srgbClr val="394773"/>
                </a:solidFill>
                <a:latin typeface="Meiryo"/>
                <a:ea typeface="Meiryo"/>
              </a:rPr>
              <a:t>03 / 12</a:t>
            </a:r>
          </a:p>
        </p:txBody>
      </p:sp>
      <p:sp>
        <p:nvSpPr>
          <p:cNvPr id="10" name="TextBox 9"/>
          <p:cNvSpPr txBox="1"/>
          <p:nvPr/>
        </p:nvSpPr>
        <p:spPr>
          <a:xfrm>
            <a:off x="548640" y="1298448"/>
            <a:ext cx="11064240" cy="594360"/>
          </a:xfrm>
          <a:prstGeom prst="rect">
            <a:avLst/>
          </a:prstGeom>
          <a:noFill/>
        </p:spPr>
        <p:txBody>
          <a:bodyPr wrap="square" anchor="t" lIns="50800" rIns="50800" tIns="25400" bIns="25400">
            <a:spAutoFit/>
          </a:bodyPr>
          <a:lstStyle/>
          <a:p>
            <a:pPr algn="l">
              <a:lnSpc>
                <a:spcPct val="110000"/>
              </a:lnSpc>
              <a:spcAft>
                <a:spcPts val="400"/>
              </a:spcAft>
            </a:pPr>
            <a:r>
              <a:rPr sz="2800" b="1">
                <a:solidFill>
                  <a:srgbClr val="222E52"/>
                </a:solidFill>
                <a:latin typeface="Meiryo"/>
                <a:ea typeface="Meiryo"/>
              </a:rPr>
              <a:t>株式会社コミクス</a:t>
            </a:r>
          </a:p>
        </p:txBody>
      </p:sp>
      <p:sp>
        <p:nvSpPr>
          <p:cNvPr id="11" name="Rectangle 10"/>
          <p:cNvSpPr/>
          <p:nvPr/>
        </p:nvSpPr>
        <p:spPr>
          <a:xfrm>
            <a:off x="566928" y="1975104"/>
            <a:ext cx="146304" cy="384048"/>
          </a:xfrm>
          <a:prstGeom prst="rect">
            <a:avLst/>
          </a:prstGeom>
          <a:solidFill>
            <a:srgbClr val="E06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1938528"/>
            <a:ext cx="10789920" cy="457200"/>
          </a:xfrm>
          <a:prstGeom prst="rect">
            <a:avLst/>
          </a:prstGeom>
          <a:noFill/>
        </p:spPr>
        <p:txBody>
          <a:bodyPr wrap="square" anchor="ctr" lIns="50800" rIns="50800" tIns="25400" bIns="25400">
            <a:spAutoFit/>
          </a:bodyPr>
          <a:lstStyle/>
          <a:p>
            <a:pPr algn="l">
              <a:lnSpc>
                <a:spcPct val="110000"/>
              </a:lnSpc>
              <a:spcAft>
                <a:spcPts val="400"/>
              </a:spcAft>
            </a:pPr>
            <a:r>
              <a:rPr sz="1800" b="1">
                <a:solidFill>
                  <a:srgbClr val="3C4357"/>
                </a:solidFill>
                <a:latin typeface="Meiryo"/>
                <a:ea typeface="Meiryo"/>
              </a:rPr>
              <a:t>業種　デジタルマーケティング・広告代理店（DX支援・SaaS事業者支援・生成AI活用支援）</a:t>
            </a:r>
          </a:p>
        </p:txBody>
      </p:sp>
      <p:cxnSp>
        <p:nvCxnSpPr>
          <p:cNvPr id="13" name="Connector 12"/>
          <p:cNvCxnSpPr/>
          <p:nvPr/>
        </p:nvCxnSpPr>
        <p:spPr>
          <a:xfrm>
            <a:off x="548640" y="2578608"/>
            <a:ext cx="11137392" cy="0"/>
          </a:xfrm>
          <a:prstGeom prst="bentConnector3">
            <a:avLst/>
          </a:prstGeom>
          <a:ln w="12700">
            <a:solidFill>
              <a:srgbClr val="D5DAE5"/>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8640" y="2788920"/>
            <a:ext cx="11064240" cy="3291840"/>
          </a:xfrm>
          <a:prstGeom prst="rect">
            <a:avLst/>
          </a:prstGeom>
          <a:noFill/>
        </p:spPr>
        <p:txBody>
          <a:bodyPr wrap="square" anchor="t" lIns="50800" rIns="50800" tIns="25400" bIns="25400">
            <a:spAutoFit/>
          </a:bodyPr>
          <a:lstStyle/>
          <a:p>
            <a:pPr algn="l">
              <a:lnSpc>
                <a:spcPct val="132000"/>
              </a:lnSpc>
              <a:spcAft>
                <a:spcPts val="400"/>
              </a:spcAft>
            </a:pPr>
            <a:r>
              <a:rPr sz="2200" b="0">
                <a:solidFill>
                  <a:srgbClr val="10162C"/>
                </a:solidFill>
                <a:latin typeface="Meiryo"/>
                <a:ea typeface="Meiryo"/>
              </a:rPr>
              <a:t>2007年設立、東京都渋谷区の広告代理店。デジタルマーケティング支援・DX支援・SaaS事業者支援を展開し、SaaS比較サイト「kyozon」、AIチャット「トップ営業なれるくん」、フリーランス紹介「デジパラ」、法人向け生成AI活用支援パックを提供。代表取締役は鈴木章裕。</a:t>
            </a:r>
          </a:p>
        </p:txBody>
      </p:sp>
      <p:sp>
        <p:nvSpPr>
          <p:cNvPr id="15" name="TextBox 14"/>
          <p:cNvSpPr txBox="1"/>
          <p:nvPr/>
        </p:nvSpPr>
        <p:spPr>
          <a:xfrm>
            <a:off x="548640" y="5989320"/>
            <a:ext cx="11064240" cy="365760"/>
          </a:xfrm>
          <a:prstGeom prst="rect">
            <a:avLst/>
          </a:prstGeom>
          <a:noFill/>
        </p:spPr>
        <p:txBody>
          <a:bodyPr wrap="square" anchor="t" lIns="50800" rIns="50800" tIns="25400" bIns="25400">
            <a:spAutoFit/>
          </a:bodyPr>
          <a:lstStyle/>
          <a:p>
            <a:pPr algn="l">
              <a:lnSpc>
                <a:spcPct val="110000"/>
              </a:lnSpc>
              <a:spcAft>
                <a:spcPts val="400"/>
              </a:spcAft>
            </a:pPr>
            <a:r>
              <a:rPr sz="1300" b="0">
                <a:solidFill>
                  <a:srgbClr val="8A95AC"/>
                </a:solidFill>
                <a:latin typeface="Meiryo"/>
                <a:ea typeface="Meiryo"/>
              </a:rPr>
              <a:t>参照 URL　https://www.comix.co.jp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87552"/>
          </a:xfrm>
          <a:prstGeom prst="rect">
            <a:avLst/>
          </a:prstGeom>
          <a:solidFill>
            <a:srgbClr val="22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987552"/>
          </a:xfrm>
          <a:prstGeom prst="rect">
            <a:avLst/>
          </a:prstGeom>
          <a:solidFill>
            <a:srgbClr val="E06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87552"/>
            <a:ext cx="12191695" cy="30480"/>
          </a:xfrm>
          <a:prstGeom prst="rect">
            <a:avLst/>
          </a:prstGeom>
          <a:solidFill>
            <a:srgbClr val="C6A0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0"/>
            <a:ext cx="10424160" cy="987552"/>
          </a:xfrm>
          <a:prstGeom prst="rect">
            <a:avLst/>
          </a:prstGeom>
          <a:noFill/>
        </p:spPr>
        <p:txBody>
          <a:bodyPr wrap="square" anchor="ctr" lIns="50800" rIns="50800" tIns="25400" bIns="25400">
            <a:spAutoFit/>
          </a:bodyPr>
          <a:lstStyle/>
          <a:p>
            <a:pPr algn="l">
              <a:lnSpc>
                <a:spcPct val="110000"/>
              </a:lnSpc>
              <a:spcAft>
                <a:spcPts val="400"/>
              </a:spcAft>
            </a:pPr>
            <a:r>
              <a:rPr sz="3000" b="1">
                <a:solidFill>
                  <a:srgbClr val="FFFFFF"/>
                </a:solidFill>
                <a:latin typeface="Meiryo"/>
                <a:ea typeface="Meiryo"/>
              </a:rPr>
              <a:t>業務棚卸し 全体マップ</a:t>
            </a:r>
          </a:p>
        </p:txBody>
      </p:sp>
      <p:cxnSp>
        <p:nvCxnSpPr>
          <p:cNvPr id="7" name="Connector 6"/>
          <p:cNvCxnSpPr/>
          <p:nvPr/>
        </p:nvCxnSpPr>
        <p:spPr>
          <a:xfrm>
            <a:off x="502920" y="6437376"/>
            <a:ext cx="11183112" cy="0"/>
          </a:xfrm>
          <a:prstGeom prst="bentConnector3">
            <a:avLst/>
          </a:prstGeom>
          <a:ln w="9525">
            <a:solidFill>
              <a:srgbClr val="D5DAE5"/>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7315200" cy="310896"/>
          </a:xfrm>
          <a:prstGeom prst="rect">
            <a:avLst/>
          </a:prstGeom>
          <a:noFill/>
        </p:spPr>
        <p:txBody>
          <a:bodyPr wrap="square" anchor="ctr" lIns="50800" rIns="50800" tIns="25400" bIns="25400">
            <a:spAutoFit/>
          </a:bodyPr>
          <a:lstStyle/>
          <a:p>
            <a:pPr algn="l">
              <a:lnSpc>
                <a:spcPct val="110000"/>
              </a:lnSpc>
              <a:spcAft>
                <a:spcPts val="400"/>
              </a:spcAft>
            </a:pPr>
            <a:r>
              <a:rPr sz="1100" b="0">
                <a:solidFill>
                  <a:srgbClr val="8A95AC"/>
                </a:solidFill>
                <a:latin typeface="Meiryo"/>
                <a:ea typeface="Meiryo"/>
              </a:rPr>
              <a:t>株式会社コミクス　│　AI 業務トリアージ</a:t>
            </a:r>
          </a:p>
        </p:txBody>
      </p:sp>
      <p:sp>
        <p:nvSpPr>
          <p:cNvPr id="9" name="TextBox 8"/>
          <p:cNvSpPr txBox="1"/>
          <p:nvPr/>
        </p:nvSpPr>
        <p:spPr>
          <a:xfrm>
            <a:off x="9857232" y="6473952"/>
            <a:ext cx="1828800" cy="310896"/>
          </a:xfrm>
          <a:prstGeom prst="rect">
            <a:avLst/>
          </a:prstGeom>
          <a:noFill/>
        </p:spPr>
        <p:txBody>
          <a:bodyPr wrap="square" anchor="ctr" lIns="50800" rIns="50800" tIns="25400" bIns="25400">
            <a:spAutoFit/>
          </a:bodyPr>
          <a:lstStyle/>
          <a:p>
            <a:pPr algn="r">
              <a:lnSpc>
                <a:spcPct val="110000"/>
              </a:lnSpc>
              <a:spcAft>
                <a:spcPts val="400"/>
              </a:spcAft>
            </a:pPr>
            <a:r>
              <a:rPr sz="1200" b="1">
                <a:solidFill>
                  <a:srgbClr val="394773"/>
                </a:solidFill>
                <a:latin typeface="Meiryo"/>
                <a:ea typeface="Meiryo"/>
              </a:rPr>
              <a:t>04 / 12</a:t>
            </a:r>
          </a:p>
        </p:txBody>
      </p:sp>
      <p:graphicFrame>
        <p:nvGraphicFramePr>
          <p:cNvPr id="10" name="Table 9"/>
          <p:cNvGraphicFramePr>
            <a:graphicFrameLocks noGrp="1"/>
          </p:cNvGraphicFramePr>
          <p:nvPr/>
        </p:nvGraphicFramePr>
        <p:xfrm>
          <a:off x="457200" y="1207008"/>
          <a:ext cx="11274551" cy="5193792"/>
        </p:xfrm>
        <a:graphic>
          <a:graphicData uri="http://schemas.openxmlformats.org/drawingml/2006/table">
            <a:tbl>
              <a:tblPr>
                <a:tableStyleId>{5C22544A-7EE6-4342-B048-85BDC9FD1C3A}</a:tableStyleId>
              </a:tblPr>
              <a:tblGrid>
                <a:gridCol w="5943600"/>
                <a:gridCol w="2194560"/>
                <a:gridCol w="1005840"/>
                <a:gridCol w="1097280"/>
                <a:gridCol w="1033271"/>
              </a:tblGrid>
              <a:tr h="324612">
                <a:tc>
                  <a:txBody>
                    <a:bodyPr wrap="square"/>
                    <a:lstStyle/>
                    <a:p>
                      <a:r>
                        <a:rPr sz="1400" b="1">
                          <a:solidFill>
                            <a:srgbClr val="FFFFFF"/>
                          </a:solidFill>
                          <a:latin typeface="Meiryo"/>
                          <a:ea typeface="Meiryo"/>
                        </a:rPr>
                        <a:t>業務</a:t>
                      </a:r>
                    </a:p>
                  </a:txBody>
                  <a:tcPr marL="101600" marR="101600" marT="25400" marB="25400" anchor="ctr">
                    <a:solidFill>
                      <a:srgbClr val="222E52"/>
                    </a:solidFill>
                  </a:tcPr>
                </a:tc>
                <a:tc>
                  <a:txBody>
                    <a:bodyPr wrap="square"/>
                    <a:lstStyle/>
                    <a:p>
                      <a:r>
                        <a:rPr sz="1400" b="1">
                          <a:solidFill>
                            <a:srgbClr val="FFFFFF"/>
                          </a:solidFill>
                          <a:latin typeface="Meiryo"/>
                          <a:ea typeface="Meiryo"/>
                        </a:rPr>
                        <a:t>分類</a:t>
                      </a:r>
                    </a:p>
                  </a:txBody>
                  <a:tcPr marL="101600" marR="101600" marT="25400" marB="25400" anchor="ctr">
                    <a:solidFill>
                      <a:srgbClr val="222E52"/>
                    </a:solidFill>
                  </a:tcPr>
                </a:tc>
                <a:tc>
                  <a:txBody>
                    <a:bodyPr wrap="square"/>
                    <a:lstStyle/>
                    <a:p>
                      <a:pPr algn="ctr"/>
                      <a:r>
                        <a:rPr sz="1400" b="1">
                          <a:solidFill>
                            <a:srgbClr val="FFFFFF"/>
                          </a:solidFill>
                          <a:latin typeface="Meiryo"/>
                          <a:ea typeface="Meiryo"/>
                        </a:rPr>
                        <a:t>売上</a:t>
                      </a:r>
                    </a:p>
                  </a:txBody>
                  <a:tcPr marL="101600" marR="101600" marT="25400" marB="25400" anchor="ctr">
                    <a:solidFill>
                      <a:srgbClr val="222E52"/>
                    </a:solidFill>
                  </a:tcPr>
                </a:tc>
                <a:tc>
                  <a:txBody>
                    <a:bodyPr wrap="square"/>
                    <a:lstStyle/>
                    <a:p>
                      <a:pPr algn="ctr"/>
                      <a:r>
                        <a:rPr sz="1400" b="1">
                          <a:solidFill>
                            <a:srgbClr val="FFFFFF"/>
                          </a:solidFill>
                          <a:latin typeface="Meiryo"/>
                          <a:ea typeface="Meiryo"/>
                        </a:rPr>
                        <a:t>難易度</a:t>
                      </a:r>
                    </a:p>
                  </a:txBody>
                  <a:tcPr marL="101600" marR="101600" marT="25400" marB="25400" anchor="ctr">
                    <a:solidFill>
                      <a:srgbClr val="222E52"/>
                    </a:solidFill>
                  </a:tcPr>
                </a:tc>
                <a:tc>
                  <a:txBody>
                    <a:bodyPr wrap="square"/>
                    <a:lstStyle/>
                    <a:p>
                      <a:pPr algn="ctr"/>
                      <a:r>
                        <a:rPr sz="1400" b="1">
                          <a:solidFill>
                            <a:srgbClr val="FFFFFF"/>
                          </a:solidFill>
                          <a:latin typeface="Meiryo"/>
                          <a:ea typeface="Meiryo"/>
                        </a:rPr>
                        <a:t>優先度</a:t>
                      </a:r>
                    </a:p>
                  </a:txBody>
                  <a:tcPr marL="101600" marR="101600" marT="25400" marB="25400" anchor="ctr">
                    <a:solidFill>
                      <a:srgbClr val="222E52"/>
                    </a:solidFill>
                  </a:tcPr>
                </a:tc>
              </a:tr>
              <a:tr h="324612">
                <a:tc>
                  <a:txBody>
                    <a:bodyPr wrap="square"/>
                    <a:lstStyle/>
                    <a:p>
                      <a:r>
                        <a:rPr sz="1300" b="0">
                          <a:solidFill>
                            <a:srgbClr val="10162C"/>
                          </a:solidFill>
                          <a:latin typeface="Meiryo"/>
                          <a:ea typeface="Meiryo"/>
                        </a:rPr>
                        <a:t>リスティング広告運用レポート作成</a:t>
                      </a:r>
                    </a:p>
                  </a:txBody>
                  <a:tcPr marL="101600" marR="101600" marT="25400" marB="25400" anchor="ctr">
                    <a:solidFill>
                      <a:srgbClr val="FFFFFF"/>
                    </a:solidFill>
                  </a:tcPr>
                </a:tc>
                <a:tc>
                  <a:txBody>
                    <a:bodyPr wrap="square"/>
                    <a:lstStyle/>
                    <a:p>
                      <a:r>
                        <a:rPr sz="1300" b="1">
                          <a:solidFill>
                            <a:srgbClr val="1E7A5E"/>
                          </a:solidFill>
                          <a:latin typeface="Meiryo"/>
                          <a:ea typeface="Meiryo"/>
                        </a:rPr>
                        <a:t>🤖 自動化推奨</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3</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2</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4</a:t>
                      </a:r>
                    </a:p>
                  </a:txBody>
                  <a:tcPr marL="101600" marR="101600" marT="25400" marB="25400" anchor="ctr">
                    <a:solidFill>
                      <a:srgbClr val="FFFFFF"/>
                    </a:solidFill>
                  </a:tcPr>
                </a:tc>
              </a:tr>
              <a:tr h="324612">
                <a:tc>
                  <a:txBody>
                    <a:bodyPr wrap="square"/>
                    <a:lstStyle/>
                    <a:p>
                      <a:r>
                        <a:rPr sz="1300" b="0">
                          <a:solidFill>
                            <a:srgbClr val="10162C"/>
                          </a:solidFill>
                          <a:latin typeface="Meiryo"/>
                          <a:ea typeface="Meiryo"/>
                        </a:rPr>
                        <a:t>kyozon掲載企業の一次スクリーニング</a:t>
                      </a:r>
                    </a:p>
                  </a:txBody>
                  <a:tcPr marL="101600" marR="101600" marT="25400" marB="25400" anchor="ctr">
                    <a:solidFill>
                      <a:srgbClr val="EBEEF4"/>
                    </a:solidFill>
                  </a:tcPr>
                </a:tc>
                <a:tc>
                  <a:txBody>
                    <a:bodyPr wrap="square"/>
                    <a:lstStyle/>
                    <a:p>
                      <a:r>
                        <a:rPr sz="1300" b="1">
                          <a:solidFill>
                            <a:srgbClr val="1E7A5E"/>
                          </a:solidFill>
                          <a:latin typeface="Meiryo"/>
                          <a:ea typeface="Meiryo"/>
                        </a:rPr>
                        <a:t>🤖 自動化推奨</a:t>
                      </a:r>
                    </a:p>
                  </a:txBody>
                  <a:tcPr marL="101600" marR="101600" marT="25400" marB="25400" anchor="ctr">
                    <a:solidFill>
                      <a:srgbClr val="EBEEF4"/>
                    </a:solidFill>
                  </a:tcPr>
                </a:tc>
                <a:tc>
                  <a:txBody>
                    <a:bodyPr wrap="square"/>
                    <a:lstStyle/>
                    <a:p>
                      <a:pPr algn="ctr"/>
                      <a:r>
                        <a:rPr sz="1300" b="0">
                          <a:solidFill>
                            <a:srgbClr val="10162C"/>
                          </a:solidFill>
                          <a:latin typeface="Meiryo"/>
                          <a:ea typeface="Meiryo"/>
                        </a:rPr>
                        <a:t>3</a:t>
                      </a:r>
                    </a:p>
                  </a:txBody>
                  <a:tcPr marL="101600" marR="101600" marT="25400" marB="25400" anchor="ctr">
                    <a:solidFill>
                      <a:srgbClr val="EBEEF4"/>
                    </a:solidFill>
                  </a:tcPr>
                </a:tc>
                <a:tc>
                  <a:txBody>
                    <a:bodyPr wrap="square"/>
                    <a:lstStyle/>
                    <a:p>
                      <a:pPr algn="ctr"/>
                      <a:r>
                        <a:rPr sz="1300" b="0">
                          <a:solidFill>
                            <a:srgbClr val="10162C"/>
                          </a:solidFill>
                          <a:latin typeface="Meiryo"/>
                          <a:ea typeface="Meiryo"/>
                        </a:rPr>
                        <a:t>2</a:t>
                      </a:r>
                    </a:p>
                  </a:txBody>
                  <a:tcPr marL="101600" marR="101600" marT="25400" marB="25400" anchor="ctr">
                    <a:solidFill>
                      <a:srgbClr val="EBEEF4"/>
                    </a:solidFill>
                  </a:tcPr>
                </a:tc>
                <a:tc>
                  <a:txBody>
                    <a:bodyPr wrap="square"/>
                    <a:lstStyle/>
                    <a:p>
                      <a:pPr algn="ctr"/>
                      <a:r>
                        <a:rPr sz="1300" b="0">
                          <a:solidFill>
                            <a:srgbClr val="10162C"/>
                          </a:solidFill>
                          <a:latin typeface="Meiryo"/>
                          <a:ea typeface="Meiryo"/>
                        </a:rPr>
                        <a:t>4</a:t>
                      </a:r>
                    </a:p>
                  </a:txBody>
                  <a:tcPr marL="101600" marR="101600" marT="25400" marB="25400" anchor="ctr">
                    <a:solidFill>
                      <a:srgbClr val="EBEEF4"/>
                    </a:solidFill>
                  </a:tcPr>
                </a:tc>
              </a:tr>
              <a:tr h="324612">
                <a:tc>
                  <a:txBody>
                    <a:bodyPr wrap="square"/>
                    <a:lstStyle/>
                    <a:p>
                      <a:r>
                        <a:rPr sz="1300" b="0">
                          <a:solidFill>
                            <a:srgbClr val="10162C"/>
                          </a:solidFill>
                          <a:latin typeface="Meiryo"/>
                          <a:ea typeface="Meiryo"/>
                        </a:rPr>
                        <a:t>問い合わせ一次対応（トップ営業なれるくん活用）</a:t>
                      </a:r>
                    </a:p>
                  </a:txBody>
                  <a:tcPr marL="101600" marR="101600" marT="25400" marB="25400" anchor="ctr">
                    <a:solidFill>
                      <a:srgbClr val="FFFFFF"/>
                    </a:solidFill>
                  </a:tcPr>
                </a:tc>
                <a:tc>
                  <a:txBody>
                    <a:bodyPr wrap="square"/>
                    <a:lstStyle/>
                    <a:p>
                      <a:r>
                        <a:rPr sz="1300" b="1">
                          <a:solidFill>
                            <a:srgbClr val="1E7A5E"/>
                          </a:solidFill>
                          <a:latin typeface="Meiryo"/>
                          <a:ea typeface="Meiryo"/>
                        </a:rPr>
                        <a:t>🤖 自動化推奨</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3</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2</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4</a:t>
                      </a:r>
                    </a:p>
                  </a:txBody>
                  <a:tcPr marL="101600" marR="101600" marT="25400" marB="25400" anchor="ctr">
                    <a:solidFill>
                      <a:srgbClr val="FFFFFF"/>
                    </a:solidFill>
                  </a:tcPr>
                </a:tc>
              </a:tr>
              <a:tr h="324612">
                <a:tc>
                  <a:txBody>
                    <a:bodyPr wrap="square"/>
                    <a:lstStyle/>
                    <a:p>
                      <a:r>
                        <a:rPr sz="1300" b="0">
                          <a:solidFill>
                            <a:srgbClr val="10162C"/>
                          </a:solidFill>
                          <a:latin typeface="Meiryo"/>
                          <a:ea typeface="Meiryo"/>
                        </a:rPr>
                        <a:t>生成AI研修資料の議事録・要約作成</a:t>
                      </a:r>
                    </a:p>
                  </a:txBody>
                  <a:tcPr marL="101600" marR="101600" marT="25400" marB="25400" anchor="ctr">
                    <a:solidFill>
                      <a:srgbClr val="EBEEF4"/>
                    </a:solidFill>
                  </a:tcPr>
                </a:tc>
                <a:tc>
                  <a:txBody>
                    <a:bodyPr wrap="square"/>
                    <a:lstStyle/>
                    <a:p>
                      <a:r>
                        <a:rPr sz="1300" b="1">
                          <a:solidFill>
                            <a:srgbClr val="1E7A5E"/>
                          </a:solidFill>
                          <a:latin typeface="Meiryo"/>
                          <a:ea typeface="Meiryo"/>
                        </a:rPr>
                        <a:t>🤖 自動化推奨</a:t>
                      </a:r>
                    </a:p>
                  </a:txBody>
                  <a:tcPr marL="101600" marR="101600" marT="25400" marB="25400" anchor="ctr">
                    <a:solidFill>
                      <a:srgbClr val="EBEEF4"/>
                    </a:solidFill>
                  </a:tcPr>
                </a:tc>
                <a:tc>
                  <a:txBody>
                    <a:bodyPr wrap="square"/>
                    <a:lstStyle/>
                    <a:p>
                      <a:pPr algn="ctr"/>
                      <a:r>
                        <a:rPr sz="1300" b="0">
                          <a:solidFill>
                            <a:srgbClr val="10162C"/>
                          </a:solidFill>
                          <a:latin typeface="Meiryo"/>
                          <a:ea typeface="Meiryo"/>
                        </a:rPr>
                        <a:t>2</a:t>
                      </a:r>
                    </a:p>
                  </a:txBody>
                  <a:tcPr marL="101600" marR="101600" marT="25400" marB="25400" anchor="ctr">
                    <a:solidFill>
                      <a:srgbClr val="EBEEF4"/>
                    </a:solidFill>
                  </a:tcPr>
                </a:tc>
                <a:tc>
                  <a:txBody>
                    <a:bodyPr wrap="square"/>
                    <a:lstStyle/>
                    <a:p>
                      <a:pPr algn="ctr"/>
                      <a:r>
                        <a:rPr sz="1300" b="0">
                          <a:solidFill>
                            <a:srgbClr val="10162C"/>
                          </a:solidFill>
                          <a:latin typeface="Meiryo"/>
                          <a:ea typeface="Meiryo"/>
                        </a:rPr>
                        <a:t>1</a:t>
                      </a:r>
                    </a:p>
                  </a:txBody>
                  <a:tcPr marL="101600" marR="101600" marT="25400" marB="25400" anchor="ctr">
                    <a:solidFill>
                      <a:srgbClr val="EBEEF4"/>
                    </a:solidFill>
                  </a:tcPr>
                </a:tc>
                <a:tc>
                  <a:txBody>
                    <a:bodyPr wrap="square"/>
                    <a:lstStyle/>
                    <a:p>
                      <a:pPr algn="ctr"/>
                      <a:r>
                        <a:rPr sz="1300" b="0">
                          <a:solidFill>
                            <a:srgbClr val="10162C"/>
                          </a:solidFill>
                          <a:latin typeface="Meiryo"/>
                          <a:ea typeface="Meiryo"/>
                        </a:rPr>
                        <a:t>3</a:t>
                      </a:r>
                    </a:p>
                  </a:txBody>
                  <a:tcPr marL="101600" marR="101600" marT="25400" marB="25400" anchor="ctr">
                    <a:solidFill>
                      <a:srgbClr val="EBEEF4"/>
                    </a:solidFill>
                  </a:tcPr>
                </a:tc>
              </a:tr>
              <a:tr h="324612">
                <a:tc>
                  <a:txBody>
                    <a:bodyPr wrap="square"/>
                    <a:lstStyle/>
                    <a:p>
                      <a:r>
                        <a:rPr sz="1300" b="0">
                          <a:solidFill>
                            <a:srgbClr val="10162C"/>
                          </a:solidFill>
                          <a:latin typeface="Meiryo"/>
                          <a:ea typeface="Meiryo"/>
                        </a:rPr>
                        <a:t>経費精算・請求書処理</a:t>
                      </a:r>
                    </a:p>
                  </a:txBody>
                  <a:tcPr marL="101600" marR="101600" marT="25400" marB="25400" anchor="ctr">
                    <a:solidFill>
                      <a:srgbClr val="FFFFFF"/>
                    </a:solidFill>
                  </a:tcPr>
                </a:tc>
                <a:tc>
                  <a:txBody>
                    <a:bodyPr wrap="square"/>
                    <a:lstStyle/>
                    <a:p>
                      <a:r>
                        <a:rPr sz="1300" b="1">
                          <a:solidFill>
                            <a:srgbClr val="1E7A5E"/>
                          </a:solidFill>
                          <a:latin typeface="Meiryo"/>
                          <a:ea typeface="Meiryo"/>
                        </a:rPr>
                        <a:t>🤖 自動化推奨</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2</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2</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2</a:t>
                      </a:r>
                    </a:p>
                  </a:txBody>
                  <a:tcPr marL="101600" marR="101600" marT="25400" marB="25400" anchor="ctr">
                    <a:solidFill>
                      <a:srgbClr val="FFFFFF"/>
                    </a:solidFill>
                  </a:tcPr>
                </a:tc>
              </a:tr>
              <a:tr h="324612">
                <a:tc>
                  <a:txBody>
                    <a:bodyPr wrap="square"/>
                    <a:lstStyle/>
                    <a:p>
                      <a:r>
                        <a:rPr sz="1300" b="0">
                          <a:solidFill>
                            <a:srgbClr val="10162C"/>
                          </a:solidFill>
                          <a:latin typeface="Meiryo"/>
                          <a:ea typeface="Meiryo"/>
                        </a:rPr>
                        <a:t>採用応募者の書類一次スクリーニング</a:t>
                      </a:r>
                    </a:p>
                  </a:txBody>
                  <a:tcPr marL="101600" marR="101600" marT="25400" marB="25400" anchor="ctr">
                    <a:solidFill>
                      <a:srgbClr val="EBEEF4"/>
                    </a:solidFill>
                  </a:tcPr>
                </a:tc>
                <a:tc>
                  <a:txBody>
                    <a:bodyPr wrap="square"/>
                    <a:lstStyle/>
                    <a:p>
                      <a:r>
                        <a:rPr sz="1300" b="1">
                          <a:solidFill>
                            <a:srgbClr val="1E7A5E"/>
                          </a:solidFill>
                          <a:latin typeface="Meiryo"/>
                          <a:ea typeface="Meiryo"/>
                        </a:rPr>
                        <a:t>🤖 自動化推奨</a:t>
                      </a:r>
                    </a:p>
                  </a:txBody>
                  <a:tcPr marL="101600" marR="101600" marT="25400" marB="25400" anchor="ctr">
                    <a:solidFill>
                      <a:srgbClr val="EBEEF4"/>
                    </a:solidFill>
                  </a:tcPr>
                </a:tc>
                <a:tc>
                  <a:txBody>
                    <a:bodyPr wrap="square"/>
                    <a:lstStyle/>
                    <a:p>
                      <a:pPr algn="ctr"/>
                      <a:r>
                        <a:rPr sz="1300" b="0">
                          <a:solidFill>
                            <a:srgbClr val="10162C"/>
                          </a:solidFill>
                          <a:latin typeface="Meiryo"/>
                          <a:ea typeface="Meiryo"/>
                        </a:rPr>
                        <a:t>1</a:t>
                      </a:r>
                    </a:p>
                  </a:txBody>
                  <a:tcPr marL="101600" marR="101600" marT="25400" marB="25400" anchor="ctr">
                    <a:solidFill>
                      <a:srgbClr val="EBEEF4"/>
                    </a:solidFill>
                  </a:tcPr>
                </a:tc>
                <a:tc>
                  <a:txBody>
                    <a:bodyPr wrap="square"/>
                    <a:lstStyle/>
                    <a:p>
                      <a:pPr algn="ctr"/>
                      <a:r>
                        <a:rPr sz="1300" b="0">
                          <a:solidFill>
                            <a:srgbClr val="10162C"/>
                          </a:solidFill>
                          <a:latin typeface="Meiryo"/>
                          <a:ea typeface="Meiryo"/>
                        </a:rPr>
                        <a:t>1</a:t>
                      </a:r>
                    </a:p>
                  </a:txBody>
                  <a:tcPr marL="101600" marR="101600" marT="25400" marB="25400" anchor="ctr">
                    <a:solidFill>
                      <a:srgbClr val="EBEEF4"/>
                    </a:solidFill>
                  </a:tcPr>
                </a:tc>
                <a:tc>
                  <a:txBody>
                    <a:bodyPr wrap="square"/>
                    <a:lstStyle/>
                    <a:p>
                      <a:pPr algn="ctr"/>
                      <a:r>
                        <a:rPr sz="1300" b="0">
                          <a:solidFill>
                            <a:srgbClr val="10162C"/>
                          </a:solidFill>
                          <a:latin typeface="Meiryo"/>
                          <a:ea typeface="Meiryo"/>
                        </a:rPr>
                        <a:t>1</a:t>
                      </a:r>
                    </a:p>
                  </a:txBody>
                  <a:tcPr marL="101600" marR="101600" marT="25400" marB="25400" anchor="ctr">
                    <a:solidFill>
                      <a:srgbClr val="EBEEF4"/>
                    </a:solidFill>
                  </a:tcPr>
                </a:tc>
              </a:tr>
              <a:tr h="324612">
                <a:tc>
                  <a:txBody>
                    <a:bodyPr wrap="square"/>
                    <a:lstStyle/>
                    <a:p>
                      <a:r>
                        <a:rPr sz="1300" b="0">
                          <a:solidFill>
                            <a:srgbClr val="10162C"/>
                          </a:solidFill>
                          <a:latin typeface="Meiryo"/>
                          <a:ea typeface="Meiryo"/>
                        </a:rPr>
                        <a:t>新規リード向け提案書ドラフト作成</a:t>
                      </a:r>
                    </a:p>
                  </a:txBody>
                  <a:tcPr marL="101600" marR="101600" marT="25400" marB="25400" anchor="ctr">
                    <a:solidFill>
                      <a:srgbClr val="FFFFFF"/>
                    </a:solidFill>
                  </a:tcPr>
                </a:tc>
                <a:tc>
                  <a:txBody>
                    <a:bodyPr wrap="square"/>
                    <a:lstStyle/>
                    <a:p>
                      <a:r>
                        <a:rPr sz="1300" b="1">
                          <a:solidFill>
                            <a:srgbClr val="2B5797"/>
                          </a:solidFill>
                          <a:latin typeface="Meiryo"/>
                          <a:ea typeface="Meiryo"/>
                        </a:rPr>
                        <a:t>🤝 協働</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5</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1</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9</a:t>
                      </a:r>
                    </a:p>
                  </a:txBody>
                  <a:tcPr marL="101600" marR="101600" marT="25400" marB="25400" anchor="ctr">
                    <a:solidFill>
                      <a:srgbClr val="FFFFFF"/>
                    </a:solidFill>
                  </a:tcPr>
                </a:tc>
              </a:tr>
              <a:tr h="324612">
                <a:tc>
                  <a:txBody>
                    <a:bodyPr wrap="square"/>
                    <a:lstStyle/>
                    <a:p>
                      <a:r>
                        <a:rPr sz="1300" b="0">
                          <a:solidFill>
                            <a:srgbClr val="10162C"/>
                          </a:solidFill>
                          <a:latin typeface="Meiryo"/>
                          <a:ea typeface="Meiryo"/>
                        </a:rPr>
                        <a:t>デジパラ登録フリーランスと案件のマッチング候補提示</a:t>
                      </a:r>
                    </a:p>
                  </a:txBody>
                  <a:tcPr marL="101600" marR="101600" marT="25400" marB="25400" anchor="ctr">
                    <a:solidFill>
                      <a:srgbClr val="EBEEF4"/>
                    </a:solidFill>
                  </a:tcPr>
                </a:tc>
                <a:tc>
                  <a:txBody>
                    <a:bodyPr wrap="square"/>
                    <a:lstStyle/>
                    <a:p>
                      <a:r>
                        <a:rPr sz="1300" b="1">
                          <a:solidFill>
                            <a:srgbClr val="2B5797"/>
                          </a:solidFill>
                          <a:latin typeface="Meiryo"/>
                          <a:ea typeface="Meiryo"/>
                        </a:rPr>
                        <a:t>🤝 協働</a:t>
                      </a:r>
                    </a:p>
                  </a:txBody>
                  <a:tcPr marL="101600" marR="101600" marT="25400" marB="25400" anchor="ctr">
                    <a:solidFill>
                      <a:srgbClr val="EBEEF4"/>
                    </a:solidFill>
                  </a:tcPr>
                </a:tc>
                <a:tc>
                  <a:txBody>
                    <a:bodyPr wrap="square"/>
                    <a:lstStyle/>
                    <a:p>
                      <a:pPr algn="ctr"/>
                      <a:r>
                        <a:rPr sz="1300" b="0">
                          <a:solidFill>
                            <a:srgbClr val="10162C"/>
                          </a:solidFill>
                          <a:latin typeface="Meiryo"/>
                          <a:ea typeface="Meiryo"/>
                        </a:rPr>
                        <a:t>4</a:t>
                      </a:r>
                    </a:p>
                  </a:txBody>
                  <a:tcPr marL="101600" marR="101600" marT="25400" marB="25400" anchor="ctr">
                    <a:solidFill>
                      <a:srgbClr val="EBEEF4"/>
                    </a:solidFill>
                  </a:tcPr>
                </a:tc>
                <a:tc>
                  <a:txBody>
                    <a:bodyPr wrap="square"/>
                    <a:lstStyle/>
                    <a:p>
                      <a:pPr algn="ctr"/>
                      <a:r>
                        <a:rPr sz="1300" b="0">
                          <a:solidFill>
                            <a:srgbClr val="10162C"/>
                          </a:solidFill>
                          <a:latin typeface="Meiryo"/>
                          <a:ea typeface="Meiryo"/>
                        </a:rPr>
                        <a:t>2</a:t>
                      </a:r>
                    </a:p>
                  </a:txBody>
                  <a:tcPr marL="101600" marR="101600" marT="25400" marB="25400" anchor="ctr">
                    <a:solidFill>
                      <a:srgbClr val="EBEEF4"/>
                    </a:solidFill>
                  </a:tcPr>
                </a:tc>
                <a:tc>
                  <a:txBody>
                    <a:bodyPr wrap="square"/>
                    <a:lstStyle/>
                    <a:p>
                      <a:pPr algn="ctr"/>
                      <a:r>
                        <a:rPr sz="1300" b="0">
                          <a:solidFill>
                            <a:srgbClr val="10162C"/>
                          </a:solidFill>
                          <a:latin typeface="Meiryo"/>
                          <a:ea typeface="Meiryo"/>
                        </a:rPr>
                        <a:t>6</a:t>
                      </a:r>
                    </a:p>
                  </a:txBody>
                  <a:tcPr marL="101600" marR="101600" marT="25400" marB="25400" anchor="ctr">
                    <a:solidFill>
                      <a:srgbClr val="EBEEF4"/>
                    </a:solidFill>
                  </a:tcPr>
                </a:tc>
              </a:tr>
              <a:tr h="324612">
                <a:tc>
                  <a:txBody>
                    <a:bodyPr wrap="square"/>
                    <a:lstStyle/>
                    <a:p>
                      <a:r>
                        <a:rPr sz="1300" b="0">
                          <a:solidFill>
                            <a:srgbClr val="10162C"/>
                          </a:solidFill>
                          <a:latin typeface="Meiryo"/>
                          <a:ea typeface="Meiryo"/>
                        </a:rPr>
                        <a:t>SNS・広告クリエイティブ制作の初稿</a:t>
                      </a:r>
                    </a:p>
                  </a:txBody>
                  <a:tcPr marL="101600" marR="101600" marT="25400" marB="25400" anchor="ctr">
                    <a:solidFill>
                      <a:srgbClr val="FFFFFF"/>
                    </a:solidFill>
                  </a:tcPr>
                </a:tc>
                <a:tc>
                  <a:txBody>
                    <a:bodyPr wrap="square"/>
                    <a:lstStyle/>
                    <a:p>
                      <a:r>
                        <a:rPr sz="1300" b="1">
                          <a:solidFill>
                            <a:srgbClr val="2B5797"/>
                          </a:solidFill>
                          <a:latin typeface="Meiryo"/>
                          <a:ea typeface="Meiryo"/>
                        </a:rPr>
                        <a:t>🤝 協働</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3</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1</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5</a:t>
                      </a:r>
                    </a:p>
                  </a:txBody>
                  <a:tcPr marL="101600" marR="101600" marT="25400" marB="25400" anchor="ctr">
                    <a:solidFill>
                      <a:srgbClr val="FFFFFF"/>
                    </a:solidFill>
                  </a:tcPr>
                </a:tc>
              </a:tr>
              <a:tr h="324612">
                <a:tc>
                  <a:txBody>
                    <a:bodyPr wrap="square"/>
                    <a:lstStyle/>
                    <a:p>
                      <a:r>
                        <a:rPr sz="1300" b="0">
                          <a:solidFill>
                            <a:srgbClr val="10162C"/>
                          </a:solidFill>
                          <a:latin typeface="Meiryo"/>
                          <a:ea typeface="Meiryo"/>
                        </a:rPr>
                        <a:t>既存顧客の解約予兆分析</a:t>
                      </a:r>
                    </a:p>
                  </a:txBody>
                  <a:tcPr marL="101600" marR="101600" marT="25400" marB="25400" anchor="ctr">
                    <a:solidFill>
                      <a:srgbClr val="EBEEF4"/>
                    </a:solidFill>
                  </a:tcPr>
                </a:tc>
                <a:tc>
                  <a:txBody>
                    <a:bodyPr wrap="square"/>
                    <a:lstStyle/>
                    <a:p>
                      <a:r>
                        <a:rPr sz="1300" b="1">
                          <a:solidFill>
                            <a:srgbClr val="2B5797"/>
                          </a:solidFill>
                          <a:latin typeface="Meiryo"/>
                          <a:ea typeface="Meiryo"/>
                        </a:rPr>
                        <a:t>🤝 協働</a:t>
                      </a:r>
                    </a:p>
                  </a:txBody>
                  <a:tcPr marL="101600" marR="101600" marT="25400" marB="25400" anchor="ctr">
                    <a:solidFill>
                      <a:srgbClr val="EBEEF4"/>
                    </a:solidFill>
                  </a:tcPr>
                </a:tc>
                <a:tc>
                  <a:txBody>
                    <a:bodyPr wrap="square"/>
                    <a:lstStyle/>
                    <a:p>
                      <a:pPr algn="ctr"/>
                      <a:r>
                        <a:rPr sz="1300" b="0">
                          <a:solidFill>
                            <a:srgbClr val="10162C"/>
                          </a:solidFill>
                          <a:latin typeface="Meiryo"/>
                          <a:ea typeface="Meiryo"/>
                        </a:rPr>
                        <a:t>4</a:t>
                      </a:r>
                    </a:p>
                  </a:txBody>
                  <a:tcPr marL="101600" marR="101600" marT="25400" marB="25400" anchor="ctr">
                    <a:solidFill>
                      <a:srgbClr val="EBEEF4"/>
                    </a:solidFill>
                  </a:tcPr>
                </a:tc>
                <a:tc>
                  <a:txBody>
                    <a:bodyPr wrap="square"/>
                    <a:lstStyle/>
                    <a:p>
                      <a:pPr algn="ctr"/>
                      <a:r>
                        <a:rPr sz="1300" b="0">
                          <a:solidFill>
                            <a:srgbClr val="10162C"/>
                          </a:solidFill>
                          <a:latin typeface="Meiryo"/>
                          <a:ea typeface="Meiryo"/>
                        </a:rPr>
                        <a:t>3</a:t>
                      </a:r>
                    </a:p>
                  </a:txBody>
                  <a:tcPr marL="101600" marR="101600" marT="25400" marB="25400" anchor="ctr">
                    <a:solidFill>
                      <a:srgbClr val="EBEEF4"/>
                    </a:solidFill>
                  </a:tcPr>
                </a:tc>
                <a:tc>
                  <a:txBody>
                    <a:bodyPr wrap="square"/>
                    <a:lstStyle/>
                    <a:p>
                      <a:pPr algn="ctr"/>
                      <a:r>
                        <a:rPr sz="1300" b="0">
                          <a:solidFill>
                            <a:srgbClr val="10162C"/>
                          </a:solidFill>
                          <a:latin typeface="Meiryo"/>
                          <a:ea typeface="Meiryo"/>
                        </a:rPr>
                        <a:t>5</a:t>
                      </a:r>
                    </a:p>
                  </a:txBody>
                  <a:tcPr marL="101600" marR="101600" marT="25400" marB="25400" anchor="ctr">
                    <a:solidFill>
                      <a:srgbClr val="EBEEF4"/>
                    </a:solidFill>
                  </a:tcPr>
                </a:tc>
              </a:tr>
              <a:tr h="324612">
                <a:tc>
                  <a:txBody>
                    <a:bodyPr wrap="square"/>
                    <a:lstStyle/>
                    <a:p>
                      <a:r>
                        <a:rPr sz="1300" b="0">
                          <a:solidFill>
                            <a:srgbClr val="10162C"/>
                          </a:solidFill>
                          <a:latin typeface="Meiryo"/>
                          <a:ea typeface="Meiryo"/>
                        </a:rPr>
                        <a:t>研修カリキュラムのカスタマイズ設計</a:t>
                      </a:r>
                    </a:p>
                  </a:txBody>
                  <a:tcPr marL="101600" marR="101600" marT="25400" marB="25400" anchor="ctr">
                    <a:solidFill>
                      <a:srgbClr val="FFFFFF"/>
                    </a:solidFill>
                  </a:tcPr>
                </a:tc>
                <a:tc>
                  <a:txBody>
                    <a:bodyPr wrap="square"/>
                    <a:lstStyle/>
                    <a:p>
                      <a:r>
                        <a:rPr sz="1300" b="1">
                          <a:solidFill>
                            <a:srgbClr val="2B5797"/>
                          </a:solidFill>
                          <a:latin typeface="Meiryo"/>
                          <a:ea typeface="Meiryo"/>
                        </a:rPr>
                        <a:t>🤝 協働</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3</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1</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5</a:t>
                      </a:r>
                    </a:p>
                  </a:txBody>
                  <a:tcPr marL="101600" marR="101600" marT="25400" marB="25400" anchor="ctr">
                    <a:solidFill>
                      <a:srgbClr val="FFFFFF"/>
                    </a:solidFill>
                  </a:tcPr>
                </a:tc>
              </a:tr>
              <a:tr h="324612">
                <a:tc>
                  <a:txBody>
                    <a:bodyPr wrap="square"/>
                    <a:lstStyle/>
                    <a:p>
                      <a:r>
                        <a:rPr sz="1300" b="0">
                          <a:solidFill>
                            <a:srgbClr val="10162C"/>
                          </a:solidFill>
                          <a:latin typeface="Meiryo"/>
                          <a:ea typeface="Meiryo"/>
                        </a:rPr>
                        <a:t>SEO・検索エンジン対策の課題分析</a:t>
                      </a:r>
                    </a:p>
                  </a:txBody>
                  <a:tcPr marL="101600" marR="101600" marT="25400" marB="25400" anchor="ctr">
                    <a:solidFill>
                      <a:srgbClr val="EBEEF4"/>
                    </a:solidFill>
                  </a:tcPr>
                </a:tc>
                <a:tc>
                  <a:txBody>
                    <a:bodyPr wrap="square"/>
                    <a:lstStyle/>
                    <a:p>
                      <a:r>
                        <a:rPr sz="1300" b="1">
                          <a:solidFill>
                            <a:srgbClr val="2B5797"/>
                          </a:solidFill>
                          <a:latin typeface="Meiryo"/>
                          <a:ea typeface="Meiryo"/>
                        </a:rPr>
                        <a:t>🤝 協働</a:t>
                      </a:r>
                    </a:p>
                  </a:txBody>
                  <a:tcPr marL="101600" marR="101600" marT="25400" marB="25400" anchor="ctr">
                    <a:solidFill>
                      <a:srgbClr val="EBEEF4"/>
                    </a:solidFill>
                  </a:tcPr>
                </a:tc>
                <a:tc>
                  <a:txBody>
                    <a:bodyPr wrap="square"/>
                    <a:lstStyle/>
                    <a:p>
                      <a:pPr algn="ctr"/>
                      <a:r>
                        <a:rPr sz="1300" b="0">
                          <a:solidFill>
                            <a:srgbClr val="10162C"/>
                          </a:solidFill>
                          <a:latin typeface="Meiryo"/>
                          <a:ea typeface="Meiryo"/>
                        </a:rPr>
                        <a:t>3</a:t>
                      </a:r>
                    </a:p>
                  </a:txBody>
                  <a:tcPr marL="101600" marR="101600" marT="25400" marB="25400" anchor="ctr">
                    <a:solidFill>
                      <a:srgbClr val="EBEEF4"/>
                    </a:solidFill>
                  </a:tcPr>
                </a:tc>
                <a:tc>
                  <a:txBody>
                    <a:bodyPr wrap="square"/>
                    <a:lstStyle/>
                    <a:p>
                      <a:pPr algn="ctr"/>
                      <a:r>
                        <a:rPr sz="1300" b="0">
                          <a:solidFill>
                            <a:srgbClr val="10162C"/>
                          </a:solidFill>
                          <a:latin typeface="Meiryo"/>
                          <a:ea typeface="Meiryo"/>
                        </a:rPr>
                        <a:t>2</a:t>
                      </a:r>
                    </a:p>
                  </a:txBody>
                  <a:tcPr marL="101600" marR="101600" marT="25400" marB="25400" anchor="ctr">
                    <a:solidFill>
                      <a:srgbClr val="EBEEF4"/>
                    </a:solidFill>
                  </a:tcPr>
                </a:tc>
                <a:tc>
                  <a:txBody>
                    <a:bodyPr wrap="square"/>
                    <a:lstStyle/>
                    <a:p>
                      <a:pPr algn="ctr"/>
                      <a:r>
                        <a:rPr sz="1300" b="0">
                          <a:solidFill>
                            <a:srgbClr val="10162C"/>
                          </a:solidFill>
                          <a:latin typeface="Meiryo"/>
                          <a:ea typeface="Meiryo"/>
                        </a:rPr>
                        <a:t>4</a:t>
                      </a:r>
                    </a:p>
                  </a:txBody>
                  <a:tcPr marL="101600" marR="101600" marT="25400" marB="25400" anchor="ctr">
                    <a:solidFill>
                      <a:srgbClr val="EBEEF4"/>
                    </a:solidFill>
                  </a:tcPr>
                </a:tc>
              </a:tr>
              <a:tr h="324612">
                <a:tc>
                  <a:txBody>
                    <a:bodyPr wrap="square"/>
                    <a:lstStyle/>
                    <a:p>
                      <a:r>
                        <a:rPr sz="1300" b="0">
                          <a:solidFill>
                            <a:srgbClr val="10162C"/>
                          </a:solidFill>
                          <a:latin typeface="Meiryo"/>
                          <a:ea typeface="Meiryo"/>
                        </a:rPr>
                        <a:t>新規商談・クロージング交渉</a:t>
                      </a:r>
                    </a:p>
                  </a:txBody>
                  <a:tcPr marL="101600" marR="101600" marT="25400" marB="25400" anchor="ctr">
                    <a:solidFill>
                      <a:srgbClr val="FFFFFF"/>
                    </a:solidFill>
                  </a:tcPr>
                </a:tc>
                <a:tc>
                  <a:txBody>
                    <a:bodyPr wrap="square"/>
                    <a:lstStyle/>
                    <a:p>
                      <a:r>
                        <a:rPr sz="1300" b="1">
                          <a:solidFill>
                            <a:srgbClr val="8C3463"/>
                          </a:solidFill>
                          <a:latin typeface="Meiryo"/>
                          <a:ea typeface="Meiryo"/>
                        </a:rPr>
                        <a:t>👤 人間専任</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5</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a:t>
                      </a:r>
                    </a:p>
                  </a:txBody>
                  <a:tcPr marL="101600" marR="101600" marT="25400" marB="25400" anchor="ctr">
                    <a:solidFill>
                      <a:srgbClr val="FFFFFF"/>
                    </a:solidFill>
                  </a:tcPr>
                </a:tc>
              </a:tr>
              <a:tr h="324612">
                <a:tc>
                  <a:txBody>
                    <a:bodyPr wrap="square"/>
                    <a:lstStyle/>
                    <a:p>
                      <a:r>
                        <a:rPr sz="1300" b="0">
                          <a:solidFill>
                            <a:srgbClr val="10162C"/>
                          </a:solidFill>
                          <a:latin typeface="Meiryo"/>
                          <a:ea typeface="Meiryo"/>
                        </a:rPr>
                        <a:t>重大クレーム・契約トラブルの最終対応</a:t>
                      </a:r>
                    </a:p>
                  </a:txBody>
                  <a:tcPr marL="101600" marR="101600" marT="25400" marB="25400" anchor="ctr">
                    <a:solidFill>
                      <a:srgbClr val="EBEEF4"/>
                    </a:solidFill>
                  </a:tcPr>
                </a:tc>
                <a:tc>
                  <a:txBody>
                    <a:bodyPr wrap="square"/>
                    <a:lstStyle/>
                    <a:p>
                      <a:r>
                        <a:rPr sz="1300" b="1">
                          <a:solidFill>
                            <a:srgbClr val="8C3463"/>
                          </a:solidFill>
                          <a:latin typeface="Meiryo"/>
                          <a:ea typeface="Meiryo"/>
                        </a:rPr>
                        <a:t>👤 人間専任</a:t>
                      </a:r>
                    </a:p>
                  </a:txBody>
                  <a:tcPr marL="101600" marR="101600" marT="25400" marB="25400" anchor="ctr">
                    <a:solidFill>
                      <a:srgbClr val="EBEEF4"/>
                    </a:solidFill>
                  </a:tcPr>
                </a:tc>
                <a:tc>
                  <a:txBody>
                    <a:bodyPr wrap="square"/>
                    <a:lstStyle/>
                    <a:p>
                      <a:pPr algn="ctr"/>
                      <a:r>
                        <a:rPr sz="1300" b="0">
                          <a:solidFill>
                            <a:srgbClr val="10162C"/>
                          </a:solidFill>
                          <a:latin typeface="Meiryo"/>
                          <a:ea typeface="Meiryo"/>
                        </a:rPr>
                        <a:t>4</a:t>
                      </a:r>
                    </a:p>
                  </a:txBody>
                  <a:tcPr marL="101600" marR="101600" marT="25400" marB="25400" anchor="ctr">
                    <a:solidFill>
                      <a:srgbClr val="EBEEF4"/>
                    </a:solidFill>
                  </a:tcPr>
                </a:tc>
                <a:tc>
                  <a:txBody>
                    <a:bodyPr wrap="square"/>
                    <a:lstStyle/>
                    <a:p>
                      <a:pPr algn="ctr"/>
                      <a:r>
                        <a:rPr sz="1300" b="0">
                          <a:solidFill>
                            <a:srgbClr val="10162C"/>
                          </a:solidFill>
                          <a:latin typeface="Meiryo"/>
                          <a:ea typeface="Meiryo"/>
                        </a:rPr>
                        <a:t>—</a:t>
                      </a:r>
                    </a:p>
                  </a:txBody>
                  <a:tcPr marL="101600" marR="101600" marT="25400" marB="25400" anchor="ctr">
                    <a:solidFill>
                      <a:srgbClr val="EBEEF4"/>
                    </a:solidFill>
                  </a:tcPr>
                </a:tc>
                <a:tc>
                  <a:txBody>
                    <a:bodyPr wrap="square"/>
                    <a:lstStyle/>
                    <a:p>
                      <a:pPr algn="ctr"/>
                      <a:r>
                        <a:rPr sz="1300" b="0">
                          <a:solidFill>
                            <a:srgbClr val="10162C"/>
                          </a:solidFill>
                          <a:latin typeface="Meiryo"/>
                          <a:ea typeface="Meiryo"/>
                        </a:rPr>
                        <a:t>—</a:t>
                      </a:r>
                    </a:p>
                  </a:txBody>
                  <a:tcPr marL="101600" marR="101600" marT="25400" marB="25400" anchor="ctr">
                    <a:solidFill>
                      <a:srgbClr val="EBEEF4"/>
                    </a:solidFill>
                  </a:tcPr>
                </a:tc>
              </a:tr>
              <a:tr h="324612">
                <a:tc>
                  <a:txBody>
                    <a:bodyPr wrap="square"/>
                    <a:lstStyle/>
                    <a:p>
                      <a:r>
                        <a:rPr sz="1300" b="0">
                          <a:solidFill>
                            <a:srgbClr val="10162C"/>
                          </a:solidFill>
                          <a:latin typeface="Meiryo"/>
                          <a:ea typeface="Meiryo"/>
                        </a:rPr>
                        <a:t>採用最終面接・評価面談</a:t>
                      </a:r>
                    </a:p>
                  </a:txBody>
                  <a:tcPr marL="101600" marR="101600" marT="25400" marB="25400" anchor="ctr">
                    <a:solidFill>
                      <a:srgbClr val="FFFFFF"/>
                    </a:solidFill>
                  </a:tcPr>
                </a:tc>
                <a:tc>
                  <a:txBody>
                    <a:bodyPr wrap="square"/>
                    <a:lstStyle/>
                    <a:p>
                      <a:r>
                        <a:rPr sz="1300" b="1">
                          <a:solidFill>
                            <a:srgbClr val="8C3463"/>
                          </a:solidFill>
                          <a:latin typeface="Meiryo"/>
                          <a:ea typeface="Meiryo"/>
                        </a:rPr>
                        <a:t>👤 人間専任</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3</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a:t>
                      </a:r>
                    </a:p>
                  </a:txBody>
                  <a:tcPr marL="101600" marR="101600" marT="25400" marB="25400" anchor="ctr">
                    <a:solidFill>
                      <a:srgbClr val="FFFFFF"/>
                    </a:solidFill>
                  </a:tcPr>
                </a:tc>
                <a:tc>
                  <a:txBody>
                    <a:bodyPr wrap="square"/>
                    <a:lstStyle/>
                    <a:p>
                      <a:pPr algn="ctr"/>
                      <a:r>
                        <a:rPr sz="1300" b="0">
                          <a:solidFill>
                            <a:srgbClr val="10162C"/>
                          </a:solidFill>
                          <a:latin typeface="Meiryo"/>
                          <a:ea typeface="Meiryo"/>
                        </a:rPr>
                        <a:t>—</a:t>
                      </a:r>
                    </a:p>
                  </a:txBody>
                  <a:tcPr marL="101600" marR="101600" marT="25400" marB="25400"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87552"/>
          </a:xfrm>
          <a:prstGeom prst="rect">
            <a:avLst/>
          </a:prstGeom>
          <a:solidFill>
            <a:srgbClr val="22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987552"/>
          </a:xfrm>
          <a:prstGeom prst="rect">
            <a:avLst/>
          </a:prstGeom>
          <a:solidFill>
            <a:srgbClr val="1E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87552"/>
            <a:ext cx="12191695" cy="30480"/>
          </a:xfrm>
          <a:prstGeom prst="rect">
            <a:avLst/>
          </a:prstGeom>
          <a:solidFill>
            <a:srgbClr val="C6A0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0"/>
            <a:ext cx="10424160" cy="987552"/>
          </a:xfrm>
          <a:prstGeom prst="rect">
            <a:avLst/>
          </a:prstGeom>
          <a:noFill/>
        </p:spPr>
        <p:txBody>
          <a:bodyPr wrap="square" anchor="ctr" lIns="50800" rIns="50800" tIns="25400" bIns="25400">
            <a:spAutoFit/>
          </a:bodyPr>
          <a:lstStyle/>
          <a:p>
            <a:pPr algn="l">
              <a:lnSpc>
                <a:spcPct val="110000"/>
              </a:lnSpc>
              <a:spcAft>
                <a:spcPts val="400"/>
              </a:spcAft>
            </a:pPr>
            <a:r>
              <a:rPr sz="3000" b="1">
                <a:solidFill>
                  <a:srgbClr val="FFFFFF"/>
                </a:solidFill>
                <a:latin typeface="Meiryo"/>
                <a:ea typeface="Meiryo"/>
              </a:rPr>
              <a:t>🤖 自動化推奨業務</a:t>
            </a:r>
          </a:p>
        </p:txBody>
      </p:sp>
      <p:cxnSp>
        <p:nvCxnSpPr>
          <p:cNvPr id="7" name="Connector 6"/>
          <p:cNvCxnSpPr/>
          <p:nvPr/>
        </p:nvCxnSpPr>
        <p:spPr>
          <a:xfrm>
            <a:off x="502920" y="6437376"/>
            <a:ext cx="11183112" cy="0"/>
          </a:xfrm>
          <a:prstGeom prst="bentConnector3">
            <a:avLst/>
          </a:prstGeom>
          <a:ln w="9525">
            <a:solidFill>
              <a:srgbClr val="D5DAE5"/>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7315200" cy="310896"/>
          </a:xfrm>
          <a:prstGeom prst="rect">
            <a:avLst/>
          </a:prstGeom>
          <a:noFill/>
        </p:spPr>
        <p:txBody>
          <a:bodyPr wrap="square" anchor="ctr" lIns="50800" rIns="50800" tIns="25400" bIns="25400">
            <a:spAutoFit/>
          </a:bodyPr>
          <a:lstStyle/>
          <a:p>
            <a:pPr algn="l">
              <a:lnSpc>
                <a:spcPct val="110000"/>
              </a:lnSpc>
              <a:spcAft>
                <a:spcPts val="400"/>
              </a:spcAft>
            </a:pPr>
            <a:r>
              <a:rPr sz="1100" b="0">
                <a:solidFill>
                  <a:srgbClr val="8A95AC"/>
                </a:solidFill>
                <a:latin typeface="Meiryo"/>
                <a:ea typeface="Meiryo"/>
              </a:rPr>
              <a:t>株式会社コミクス　│　AI 業務トリアージ</a:t>
            </a:r>
          </a:p>
        </p:txBody>
      </p:sp>
      <p:sp>
        <p:nvSpPr>
          <p:cNvPr id="9" name="TextBox 8"/>
          <p:cNvSpPr txBox="1"/>
          <p:nvPr/>
        </p:nvSpPr>
        <p:spPr>
          <a:xfrm>
            <a:off x="9857232" y="6473952"/>
            <a:ext cx="1828800" cy="310896"/>
          </a:xfrm>
          <a:prstGeom prst="rect">
            <a:avLst/>
          </a:prstGeom>
          <a:noFill/>
        </p:spPr>
        <p:txBody>
          <a:bodyPr wrap="square" anchor="ctr" lIns="50800" rIns="50800" tIns="25400" bIns="25400">
            <a:spAutoFit/>
          </a:bodyPr>
          <a:lstStyle/>
          <a:p>
            <a:pPr algn="r">
              <a:lnSpc>
                <a:spcPct val="110000"/>
              </a:lnSpc>
              <a:spcAft>
                <a:spcPts val="400"/>
              </a:spcAft>
            </a:pPr>
            <a:r>
              <a:rPr sz="1200" b="1">
                <a:solidFill>
                  <a:srgbClr val="394773"/>
                </a:solidFill>
                <a:latin typeface="Meiryo"/>
                <a:ea typeface="Meiryo"/>
              </a:rPr>
              <a:t>05 / 12</a:t>
            </a:r>
          </a:p>
        </p:txBody>
      </p:sp>
      <p:sp>
        <p:nvSpPr>
          <p:cNvPr id="10" name="Rectangle 9"/>
          <p:cNvSpPr/>
          <p:nvPr/>
        </p:nvSpPr>
        <p:spPr>
          <a:xfrm>
            <a:off x="0" y="1005840"/>
            <a:ext cx="12191695" cy="475488"/>
          </a:xfrm>
          <a:prstGeom prst="rect">
            <a:avLst/>
          </a:prstGeom>
          <a:solidFill>
            <a:srgbClr val="E8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005840"/>
            <a:ext cx="11155680" cy="475488"/>
          </a:xfrm>
          <a:prstGeom prst="rect">
            <a:avLst/>
          </a:prstGeom>
          <a:noFill/>
        </p:spPr>
        <p:txBody>
          <a:bodyPr wrap="square" anchor="ctr" lIns="50800" rIns="50800" tIns="25400" bIns="25400">
            <a:spAutoFit/>
          </a:bodyPr>
          <a:lstStyle/>
          <a:p>
            <a:pPr algn="l">
              <a:lnSpc>
                <a:spcPct val="110000"/>
              </a:lnSpc>
              <a:spcAft>
                <a:spcPts val="400"/>
              </a:spcAft>
            </a:pPr>
            <a:r>
              <a:rPr sz="1400" b="1">
                <a:solidFill>
                  <a:srgbClr val="1E7A5E"/>
                </a:solidFill>
                <a:latin typeface="Meiryo"/>
                <a:ea typeface="Meiryo"/>
              </a:rPr>
              <a:t>AI / ツールで完全自動化または大半を代替できる業務。クイックウィンの源泉。</a:t>
            </a:r>
          </a:p>
        </p:txBody>
      </p:sp>
      <p:graphicFrame>
        <p:nvGraphicFramePr>
          <p:cNvPr id="12" name="Table 11"/>
          <p:cNvGraphicFramePr>
            <a:graphicFrameLocks noGrp="1"/>
          </p:cNvGraphicFramePr>
          <p:nvPr/>
        </p:nvGraphicFramePr>
        <p:xfrm>
          <a:off x="457200" y="1691640"/>
          <a:ext cx="11274552" cy="3840480"/>
        </p:xfrm>
        <a:graphic>
          <a:graphicData uri="http://schemas.openxmlformats.org/drawingml/2006/table">
            <a:tbl>
              <a:tblPr>
                <a:tableStyleId>{5C22544A-7EE6-4342-B048-85BDC9FD1C3A}</a:tableStyleId>
              </a:tblPr>
              <a:tblGrid>
                <a:gridCol w="3657600"/>
                <a:gridCol w="6519672"/>
                <a:gridCol w="1097280"/>
              </a:tblGrid>
              <a:tr h="548640">
                <a:tc>
                  <a:txBody>
                    <a:bodyPr wrap="square"/>
                    <a:lstStyle/>
                    <a:p>
                      <a:r>
                        <a:rPr sz="1500" b="1">
                          <a:solidFill>
                            <a:srgbClr val="FFFFFF"/>
                          </a:solidFill>
                          <a:latin typeface="Meiryo"/>
                          <a:ea typeface="Meiryo"/>
                        </a:rPr>
                        <a:t>業務</a:t>
                      </a:r>
                    </a:p>
                  </a:txBody>
                  <a:tcPr marL="101600" marR="101600" marT="25400" marB="25400" anchor="ctr">
                    <a:solidFill>
                      <a:srgbClr val="1E7A5E"/>
                    </a:solidFill>
                  </a:tcPr>
                </a:tc>
                <a:tc>
                  <a:txBody>
                    <a:bodyPr wrap="square"/>
                    <a:lstStyle/>
                    <a:p>
                      <a:r>
                        <a:rPr sz="1500" b="1">
                          <a:solidFill>
                            <a:srgbClr val="FFFFFF"/>
                          </a:solidFill>
                          <a:latin typeface="Meiryo"/>
                          <a:ea typeface="Meiryo"/>
                        </a:rPr>
                        <a:t>AI 活用手法</a:t>
                      </a:r>
                    </a:p>
                  </a:txBody>
                  <a:tcPr marL="101600" marR="101600" marT="25400" marB="25400" anchor="ctr">
                    <a:solidFill>
                      <a:srgbClr val="1E7A5E"/>
                    </a:solidFill>
                  </a:tcPr>
                </a:tc>
                <a:tc>
                  <a:txBody>
                    <a:bodyPr wrap="square"/>
                    <a:lstStyle/>
                    <a:p>
                      <a:pPr algn="ctr"/>
                      <a:r>
                        <a:rPr sz="1500" b="1">
                          <a:solidFill>
                            <a:srgbClr val="FFFFFF"/>
                          </a:solidFill>
                          <a:latin typeface="Meiryo"/>
                          <a:ea typeface="Meiryo"/>
                        </a:rPr>
                        <a:t>優先</a:t>
                      </a:r>
                    </a:p>
                  </a:txBody>
                  <a:tcPr marL="101600" marR="101600" marT="25400" marB="25400" anchor="ctr">
                    <a:solidFill>
                      <a:srgbClr val="1E7A5E"/>
                    </a:solidFill>
                  </a:tcPr>
                </a:tc>
              </a:tr>
              <a:tr h="548640">
                <a:tc>
                  <a:txBody>
                    <a:bodyPr wrap="square"/>
                    <a:lstStyle/>
                    <a:p>
                      <a:r>
                        <a:rPr sz="1400" b="0">
                          <a:solidFill>
                            <a:srgbClr val="10162C"/>
                          </a:solidFill>
                          <a:latin typeface="Meiryo"/>
                          <a:ea typeface="Meiryo"/>
                        </a:rPr>
                        <a:t>リスティング広告運用レポート作成</a:t>
                      </a:r>
                    </a:p>
                  </a:txBody>
                  <a:tcPr marL="101600" marR="101600" marT="25400" marB="25400" anchor="ctr">
                    <a:solidFill>
                      <a:srgbClr val="FFFFFF"/>
                    </a:solidFill>
                  </a:tcPr>
                </a:tc>
                <a:tc>
                  <a:txBody>
                    <a:bodyPr wrap="square"/>
                    <a:lstStyle/>
                    <a:p>
                      <a:r>
                        <a:rPr sz="1400" b="0">
                          <a:solidFill>
                            <a:srgbClr val="10162C"/>
                          </a:solidFill>
                          <a:latin typeface="Meiryo"/>
                          <a:ea typeface="Meiryo"/>
                        </a:rPr>
                        <a:t>広告APIとClaudeを連携したレポート自動生成・GAS/RPAでのシート集計自動化</a:t>
                      </a:r>
                    </a:p>
                  </a:txBody>
                  <a:tcPr marL="101600" marR="101600" marT="25400" marB="25400" anchor="ctr">
                    <a:solidFill>
                      <a:srgbClr val="FFFFFF"/>
                    </a:solidFill>
                  </a:tcPr>
                </a:tc>
                <a:tc>
                  <a:txBody>
                    <a:bodyPr wrap="square"/>
                    <a:lstStyle/>
                    <a:p>
                      <a:pPr algn="ctr"/>
                      <a:r>
                        <a:rPr sz="1400" b="0">
                          <a:solidFill>
                            <a:srgbClr val="10162C"/>
                          </a:solidFill>
                          <a:latin typeface="Meiryo"/>
                          <a:ea typeface="Meiryo"/>
                        </a:rPr>
                        <a:t>4</a:t>
                      </a:r>
                    </a:p>
                  </a:txBody>
                  <a:tcPr marL="101600" marR="101600" marT="25400" marB="25400" anchor="ctr">
                    <a:solidFill>
                      <a:srgbClr val="FFFFFF"/>
                    </a:solidFill>
                  </a:tcPr>
                </a:tc>
              </a:tr>
              <a:tr h="548640">
                <a:tc>
                  <a:txBody>
                    <a:bodyPr wrap="square"/>
                    <a:lstStyle/>
                    <a:p>
                      <a:r>
                        <a:rPr sz="1400" b="0">
                          <a:solidFill>
                            <a:srgbClr val="10162C"/>
                          </a:solidFill>
                          <a:latin typeface="Meiryo"/>
                          <a:ea typeface="Meiryo"/>
                        </a:rPr>
                        <a:t>kyozon掲載企業の一次スクリーニング</a:t>
                      </a:r>
                    </a:p>
                  </a:txBody>
                  <a:tcPr marL="101600" marR="101600" marT="25400" marB="25400" anchor="ctr">
                    <a:solidFill>
                      <a:srgbClr val="EBEEF4"/>
                    </a:solidFill>
                  </a:tcPr>
                </a:tc>
                <a:tc>
                  <a:txBody>
                    <a:bodyPr wrap="square"/>
                    <a:lstStyle/>
                    <a:p>
                      <a:r>
                        <a:rPr sz="1400" b="0">
                          <a:solidFill>
                            <a:srgbClr val="10162C"/>
                          </a:solidFill>
                          <a:latin typeface="Meiryo"/>
                          <a:ea typeface="Meiryo"/>
                        </a:rPr>
                        <a:t>Claudeで申込フォーム内容をルールベース判定し要件充足企業を自動抽出</a:t>
                      </a:r>
                    </a:p>
                  </a:txBody>
                  <a:tcPr marL="101600" marR="101600" marT="25400" marB="25400" anchor="ctr">
                    <a:solidFill>
                      <a:srgbClr val="EBEEF4"/>
                    </a:solidFill>
                  </a:tcPr>
                </a:tc>
                <a:tc>
                  <a:txBody>
                    <a:bodyPr wrap="square"/>
                    <a:lstStyle/>
                    <a:p>
                      <a:pPr algn="ctr"/>
                      <a:r>
                        <a:rPr sz="1400" b="0">
                          <a:solidFill>
                            <a:srgbClr val="10162C"/>
                          </a:solidFill>
                          <a:latin typeface="Meiryo"/>
                          <a:ea typeface="Meiryo"/>
                        </a:rPr>
                        <a:t>4</a:t>
                      </a:r>
                    </a:p>
                  </a:txBody>
                  <a:tcPr marL="101600" marR="101600" marT="25400" marB="25400" anchor="ctr">
                    <a:solidFill>
                      <a:srgbClr val="EBEEF4"/>
                    </a:solidFill>
                  </a:tcPr>
                </a:tc>
              </a:tr>
              <a:tr h="548640">
                <a:tc>
                  <a:txBody>
                    <a:bodyPr wrap="square"/>
                    <a:lstStyle/>
                    <a:p>
                      <a:r>
                        <a:rPr sz="1400" b="0">
                          <a:solidFill>
                            <a:srgbClr val="10162C"/>
                          </a:solidFill>
                          <a:latin typeface="Meiryo"/>
                          <a:ea typeface="Meiryo"/>
                        </a:rPr>
                        <a:t>問い合わせ一次対応（トップ営業なれるくん活用）</a:t>
                      </a:r>
                    </a:p>
                  </a:txBody>
                  <a:tcPr marL="101600" marR="101600" marT="25400" marB="25400" anchor="ctr">
                    <a:solidFill>
                      <a:srgbClr val="FFFFFF"/>
                    </a:solidFill>
                  </a:tcPr>
                </a:tc>
                <a:tc>
                  <a:txBody>
                    <a:bodyPr wrap="square"/>
                    <a:lstStyle/>
                    <a:p>
                      <a:r>
                        <a:rPr sz="1400" b="0">
                          <a:solidFill>
                            <a:srgbClr val="10162C"/>
                          </a:solidFill>
                          <a:latin typeface="Meiryo"/>
                          <a:ea typeface="Meiryo"/>
                        </a:rPr>
                        <a:t>自社開発AIチャット「トップ営業なれるくん」を自社問い合わせ窓口にも適用</a:t>
                      </a:r>
                    </a:p>
                  </a:txBody>
                  <a:tcPr marL="101600" marR="101600" marT="25400" marB="25400" anchor="ctr">
                    <a:solidFill>
                      <a:srgbClr val="FFFFFF"/>
                    </a:solidFill>
                  </a:tcPr>
                </a:tc>
                <a:tc>
                  <a:txBody>
                    <a:bodyPr wrap="square"/>
                    <a:lstStyle/>
                    <a:p>
                      <a:pPr algn="ctr"/>
                      <a:r>
                        <a:rPr sz="1400" b="0">
                          <a:solidFill>
                            <a:srgbClr val="10162C"/>
                          </a:solidFill>
                          <a:latin typeface="Meiryo"/>
                          <a:ea typeface="Meiryo"/>
                        </a:rPr>
                        <a:t>4</a:t>
                      </a:r>
                    </a:p>
                  </a:txBody>
                  <a:tcPr marL="101600" marR="101600" marT="25400" marB="25400" anchor="ctr">
                    <a:solidFill>
                      <a:srgbClr val="FFFFFF"/>
                    </a:solidFill>
                  </a:tcPr>
                </a:tc>
              </a:tr>
              <a:tr h="548640">
                <a:tc>
                  <a:txBody>
                    <a:bodyPr wrap="square"/>
                    <a:lstStyle/>
                    <a:p>
                      <a:r>
                        <a:rPr sz="1400" b="0">
                          <a:solidFill>
                            <a:srgbClr val="10162C"/>
                          </a:solidFill>
                          <a:latin typeface="Meiryo"/>
                          <a:ea typeface="Meiryo"/>
                        </a:rPr>
                        <a:t>生成AI研修資料の議事録・要約作成</a:t>
                      </a:r>
                    </a:p>
                  </a:txBody>
                  <a:tcPr marL="101600" marR="101600" marT="25400" marB="25400" anchor="ctr">
                    <a:solidFill>
                      <a:srgbClr val="EBEEF4"/>
                    </a:solidFill>
                  </a:tcPr>
                </a:tc>
                <a:tc>
                  <a:txBody>
                    <a:bodyPr wrap="square"/>
                    <a:lstStyle/>
                    <a:p>
                      <a:r>
                        <a:rPr sz="1400" b="0">
                          <a:solidFill>
                            <a:srgbClr val="10162C"/>
                          </a:solidFill>
                          <a:latin typeface="Meiryo"/>
                          <a:ea typeface="Meiryo"/>
                        </a:rPr>
                        <a:t>Claudeで研修音声・資料から議事録自動生成、Notion DBへ格納</a:t>
                      </a:r>
                    </a:p>
                  </a:txBody>
                  <a:tcPr marL="101600" marR="101600" marT="25400" marB="25400" anchor="ctr">
                    <a:solidFill>
                      <a:srgbClr val="EBEEF4"/>
                    </a:solidFill>
                  </a:tcPr>
                </a:tc>
                <a:tc>
                  <a:txBody>
                    <a:bodyPr wrap="square"/>
                    <a:lstStyle/>
                    <a:p>
                      <a:pPr algn="ctr"/>
                      <a:r>
                        <a:rPr sz="1400" b="0">
                          <a:solidFill>
                            <a:srgbClr val="10162C"/>
                          </a:solidFill>
                          <a:latin typeface="Meiryo"/>
                          <a:ea typeface="Meiryo"/>
                        </a:rPr>
                        <a:t>3</a:t>
                      </a:r>
                    </a:p>
                  </a:txBody>
                  <a:tcPr marL="101600" marR="101600" marT="25400" marB="25400" anchor="ctr">
                    <a:solidFill>
                      <a:srgbClr val="EBEEF4"/>
                    </a:solidFill>
                  </a:tcPr>
                </a:tc>
              </a:tr>
              <a:tr h="548640">
                <a:tc>
                  <a:txBody>
                    <a:bodyPr wrap="square"/>
                    <a:lstStyle/>
                    <a:p>
                      <a:r>
                        <a:rPr sz="1400" b="0">
                          <a:solidFill>
                            <a:srgbClr val="10162C"/>
                          </a:solidFill>
                          <a:latin typeface="Meiryo"/>
                          <a:ea typeface="Meiryo"/>
                        </a:rPr>
                        <a:t>経費精算・請求書処理</a:t>
                      </a:r>
                    </a:p>
                  </a:txBody>
                  <a:tcPr marL="101600" marR="101600" marT="25400" marB="25400" anchor="ctr">
                    <a:solidFill>
                      <a:srgbClr val="FFFFFF"/>
                    </a:solidFill>
                  </a:tcPr>
                </a:tc>
                <a:tc>
                  <a:txBody>
                    <a:bodyPr wrap="square"/>
                    <a:lstStyle/>
                    <a:p>
                      <a:r>
                        <a:rPr sz="1400" b="0">
                          <a:solidFill>
                            <a:srgbClr val="10162C"/>
                          </a:solidFill>
                          <a:latin typeface="Meiryo"/>
                          <a:ea typeface="Meiryo"/>
                        </a:rPr>
                        <a:t>クラウド会計ソフトのOCR＋自動仕訳機能で処理を自動化</a:t>
                      </a:r>
                    </a:p>
                  </a:txBody>
                  <a:tcPr marL="101600" marR="101600" marT="25400" marB="25400" anchor="ctr">
                    <a:solidFill>
                      <a:srgbClr val="FFFFFF"/>
                    </a:solidFill>
                  </a:tcPr>
                </a:tc>
                <a:tc>
                  <a:txBody>
                    <a:bodyPr wrap="square"/>
                    <a:lstStyle/>
                    <a:p>
                      <a:pPr algn="ctr"/>
                      <a:r>
                        <a:rPr sz="1400" b="0">
                          <a:solidFill>
                            <a:srgbClr val="10162C"/>
                          </a:solidFill>
                          <a:latin typeface="Meiryo"/>
                          <a:ea typeface="Meiryo"/>
                        </a:rPr>
                        <a:t>2</a:t>
                      </a:r>
                    </a:p>
                  </a:txBody>
                  <a:tcPr marL="101600" marR="101600" marT="25400" marB="25400" anchor="ctr">
                    <a:solidFill>
                      <a:srgbClr val="FFFFFF"/>
                    </a:solidFill>
                  </a:tcPr>
                </a:tc>
              </a:tr>
              <a:tr h="548640">
                <a:tc>
                  <a:txBody>
                    <a:bodyPr wrap="square"/>
                    <a:lstStyle/>
                    <a:p>
                      <a:r>
                        <a:rPr sz="1400" b="0">
                          <a:solidFill>
                            <a:srgbClr val="10162C"/>
                          </a:solidFill>
                          <a:latin typeface="Meiryo"/>
                          <a:ea typeface="Meiryo"/>
                        </a:rPr>
                        <a:t>採用応募者の書類一次スクリーニング</a:t>
                      </a:r>
                    </a:p>
                  </a:txBody>
                  <a:tcPr marL="101600" marR="101600" marT="25400" marB="25400" anchor="ctr">
                    <a:solidFill>
                      <a:srgbClr val="EBEEF4"/>
                    </a:solidFill>
                  </a:tcPr>
                </a:tc>
                <a:tc>
                  <a:txBody>
                    <a:bodyPr wrap="square"/>
                    <a:lstStyle/>
                    <a:p>
                      <a:r>
                        <a:rPr sz="1400" b="0">
                          <a:solidFill>
                            <a:srgbClr val="10162C"/>
                          </a:solidFill>
                          <a:latin typeface="Meiryo"/>
                          <a:ea typeface="Meiryo"/>
                        </a:rPr>
                        <a:t>ClaudeまたはATSのAI機能で職務要件との適合度をスコアリング</a:t>
                      </a:r>
                    </a:p>
                  </a:txBody>
                  <a:tcPr marL="101600" marR="101600" marT="25400" marB="25400" anchor="ctr">
                    <a:solidFill>
                      <a:srgbClr val="EBEEF4"/>
                    </a:solidFill>
                  </a:tcPr>
                </a:tc>
                <a:tc>
                  <a:txBody>
                    <a:bodyPr wrap="square"/>
                    <a:lstStyle/>
                    <a:p>
                      <a:pPr algn="ctr"/>
                      <a:r>
                        <a:rPr sz="1400" b="0">
                          <a:solidFill>
                            <a:srgbClr val="10162C"/>
                          </a:solidFill>
                          <a:latin typeface="Meiryo"/>
                          <a:ea typeface="Meiryo"/>
                        </a:rPr>
                        <a:t>1</a:t>
                      </a:r>
                    </a:p>
                  </a:txBody>
                  <a:tcPr marL="101600" marR="101600" marT="25400" marB="25400" anchor="ctr">
                    <a:solidFill>
                      <a:srgbClr val="EBEEF4"/>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87552"/>
          </a:xfrm>
          <a:prstGeom prst="rect">
            <a:avLst/>
          </a:prstGeom>
          <a:solidFill>
            <a:srgbClr val="22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987552"/>
          </a:xfrm>
          <a:prstGeom prst="rect">
            <a:avLst/>
          </a:prstGeom>
          <a:solidFill>
            <a:srgbClr val="2B5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87552"/>
            <a:ext cx="12191695" cy="30480"/>
          </a:xfrm>
          <a:prstGeom prst="rect">
            <a:avLst/>
          </a:prstGeom>
          <a:solidFill>
            <a:srgbClr val="C6A0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0"/>
            <a:ext cx="10424160" cy="987552"/>
          </a:xfrm>
          <a:prstGeom prst="rect">
            <a:avLst/>
          </a:prstGeom>
          <a:noFill/>
        </p:spPr>
        <p:txBody>
          <a:bodyPr wrap="square" anchor="ctr" lIns="50800" rIns="50800" tIns="25400" bIns="25400">
            <a:spAutoFit/>
          </a:bodyPr>
          <a:lstStyle/>
          <a:p>
            <a:pPr algn="l">
              <a:lnSpc>
                <a:spcPct val="110000"/>
              </a:lnSpc>
              <a:spcAft>
                <a:spcPts val="400"/>
              </a:spcAft>
            </a:pPr>
            <a:r>
              <a:rPr sz="3000" b="1">
                <a:solidFill>
                  <a:srgbClr val="FFFFFF"/>
                </a:solidFill>
                <a:latin typeface="Meiryo"/>
                <a:ea typeface="Meiryo"/>
              </a:rPr>
              <a:t>🤝 協働業務</a:t>
            </a:r>
          </a:p>
        </p:txBody>
      </p:sp>
      <p:cxnSp>
        <p:nvCxnSpPr>
          <p:cNvPr id="7" name="Connector 6"/>
          <p:cNvCxnSpPr/>
          <p:nvPr/>
        </p:nvCxnSpPr>
        <p:spPr>
          <a:xfrm>
            <a:off x="502920" y="6437376"/>
            <a:ext cx="11183112" cy="0"/>
          </a:xfrm>
          <a:prstGeom prst="bentConnector3">
            <a:avLst/>
          </a:prstGeom>
          <a:ln w="9525">
            <a:solidFill>
              <a:srgbClr val="D5DAE5"/>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7315200" cy="310896"/>
          </a:xfrm>
          <a:prstGeom prst="rect">
            <a:avLst/>
          </a:prstGeom>
          <a:noFill/>
        </p:spPr>
        <p:txBody>
          <a:bodyPr wrap="square" anchor="ctr" lIns="50800" rIns="50800" tIns="25400" bIns="25400">
            <a:spAutoFit/>
          </a:bodyPr>
          <a:lstStyle/>
          <a:p>
            <a:pPr algn="l">
              <a:lnSpc>
                <a:spcPct val="110000"/>
              </a:lnSpc>
              <a:spcAft>
                <a:spcPts val="400"/>
              </a:spcAft>
            </a:pPr>
            <a:r>
              <a:rPr sz="1100" b="0">
                <a:solidFill>
                  <a:srgbClr val="8A95AC"/>
                </a:solidFill>
                <a:latin typeface="Meiryo"/>
                <a:ea typeface="Meiryo"/>
              </a:rPr>
              <a:t>株式会社コミクス　│　AI 業務トリアージ</a:t>
            </a:r>
          </a:p>
        </p:txBody>
      </p:sp>
      <p:sp>
        <p:nvSpPr>
          <p:cNvPr id="9" name="TextBox 8"/>
          <p:cNvSpPr txBox="1"/>
          <p:nvPr/>
        </p:nvSpPr>
        <p:spPr>
          <a:xfrm>
            <a:off x="9857232" y="6473952"/>
            <a:ext cx="1828800" cy="310896"/>
          </a:xfrm>
          <a:prstGeom prst="rect">
            <a:avLst/>
          </a:prstGeom>
          <a:noFill/>
        </p:spPr>
        <p:txBody>
          <a:bodyPr wrap="square" anchor="ctr" lIns="50800" rIns="50800" tIns="25400" bIns="25400">
            <a:spAutoFit/>
          </a:bodyPr>
          <a:lstStyle/>
          <a:p>
            <a:pPr algn="r">
              <a:lnSpc>
                <a:spcPct val="110000"/>
              </a:lnSpc>
              <a:spcAft>
                <a:spcPts val="400"/>
              </a:spcAft>
            </a:pPr>
            <a:r>
              <a:rPr sz="1200" b="1">
                <a:solidFill>
                  <a:srgbClr val="394773"/>
                </a:solidFill>
                <a:latin typeface="Meiryo"/>
                <a:ea typeface="Meiryo"/>
              </a:rPr>
              <a:t>06 / 12</a:t>
            </a:r>
          </a:p>
        </p:txBody>
      </p:sp>
      <p:sp>
        <p:nvSpPr>
          <p:cNvPr id="10" name="Rectangle 9"/>
          <p:cNvSpPr/>
          <p:nvPr/>
        </p:nvSpPr>
        <p:spPr>
          <a:xfrm>
            <a:off x="0" y="1005840"/>
            <a:ext cx="12191695" cy="475488"/>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005840"/>
            <a:ext cx="11155680" cy="475488"/>
          </a:xfrm>
          <a:prstGeom prst="rect">
            <a:avLst/>
          </a:prstGeom>
          <a:noFill/>
        </p:spPr>
        <p:txBody>
          <a:bodyPr wrap="square" anchor="ctr" lIns="50800" rIns="50800" tIns="25400" bIns="25400">
            <a:spAutoFit/>
          </a:bodyPr>
          <a:lstStyle/>
          <a:p>
            <a:pPr algn="l">
              <a:lnSpc>
                <a:spcPct val="110000"/>
              </a:lnSpc>
              <a:spcAft>
                <a:spcPts val="400"/>
              </a:spcAft>
            </a:pPr>
            <a:r>
              <a:rPr sz="1400" b="1">
                <a:solidFill>
                  <a:srgbClr val="2B5797"/>
                </a:solidFill>
                <a:latin typeface="Meiryo"/>
                <a:ea typeface="Meiryo"/>
              </a:rPr>
              <a:t>AI が下書き・分析し、人が判断・仕上げする業務。生産性と品質を両立。</a:t>
            </a:r>
          </a:p>
        </p:txBody>
      </p:sp>
      <p:graphicFrame>
        <p:nvGraphicFramePr>
          <p:cNvPr id="12" name="Table 11"/>
          <p:cNvGraphicFramePr>
            <a:graphicFrameLocks noGrp="1"/>
          </p:cNvGraphicFramePr>
          <p:nvPr/>
        </p:nvGraphicFramePr>
        <p:xfrm>
          <a:off x="457200" y="1691640"/>
          <a:ext cx="11274552" cy="3840480"/>
        </p:xfrm>
        <a:graphic>
          <a:graphicData uri="http://schemas.openxmlformats.org/drawingml/2006/table">
            <a:tbl>
              <a:tblPr>
                <a:tableStyleId>{5C22544A-7EE6-4342-B048-85BDC9FD1C3A}</a:tableStyleId>
              </a:tblPr>
              <a:tblGrid>
                <a:gridCol w="3657600"/>
                <a:gridCol w="6519672"/>
                <a:gridCol w="1097280"/>
              </a:tblGrid>
              <a:tr h="548640">
                <a:tc>
                  <a:txBody>
                    <a:bodyPr wrap="square"/>
                    <a:lstStyle/>
                    <a:p>
                      <a:r>
                        <a:rPr sz="1500" b="1">
                          <a:solidFill>
                            <a:srgbClr val="FFFFFF"/>
                          </a:solidFill>
                          <a:latin typeface="Meiryo"/>
                          <a:ea typeface="Meiryo"/>
                        </a:rPr>
                        <a:t>業務</a:t>
                      </a:r>
                    </a:p>
                  </a:txBody>
                  <a:tcPr marL="101600" marR="101600" marT="25400" marB="25400" anchor="ctr">
                    <a:solidFill>
                      <a:srgbClr val="2B5797"/>
                    </a:solidFill>
                  </a:tcPr>
                </a:tc>
                <a:tc>
                  <a:txBody>
                    <a:bodyPr wrap="square"/>
                    <a:lstStyle/>
                    <a:p>
                      <a:r>
                        <a:rPr sz="1500" b="1">
                          <a:solidFill>
                            <a:srgbClr val="FFFFFF"/>
                          </a:solidFill>
                          <a:latin typeface="Meiryo"/>
                          <a:ea typeface="Meiryo"/>
                        </a:rPr>
                        <a:t>役割分担（AI / 人）</a:t>
                      </a:r>
                    </a:p>
                  </a:txBody>
                  <a:tcPr marL="101600" marR="101600" marT="25400" marB="25400" anchor="ctr">
                    <a:solidFill>
                      <a:srgbClr val="2B5797"/>
                    </a:solidFill>
                  </a:tcPr>
                </a:tc>
                <a:tc>
                  <a:txBody>
                    <a:bodyPr wrap="square"/>
                    <a:lstStyle/>
                    <a:p>
                      <a:pPr algn="ctr"/>
                      <a:r>
                        <a:rPr sz="1500" b="1">
                          <a:solidFill>
                            <a:srgbClr val="FFFFFF"/>
                          </a:solidFill>
                          <a:latin typeface="Meiryo"/>
                          <a:ea typeface="Meiryo"/>
                        </a:rPr>
                        <a:t>優先</a:t>
                      </a:r>
                    </a:p>
                  </a:txBody>
                  <a:tcPr marL="101600" marR="101600" marT="25400" marB="25400" anchor="ctr">
                    <a:solidFill>
                      <a:srgbClr val="2B5797"/>
                    </a:solidFill>
                  </a:tcPr>
                </a:tc>
              </a:tr>
              <a:tr h="548640">
                <a:tc>
                  <a:txBody>
                    <a:bodyPr wrap="square"/>
                    <a:lstStyle/>
                    <a:p>
                      <a:r>
                        <a:rPr sz="1400" b="0">
                          <a:solidFill>
                            <a:srgbClr val="10162C"/>
                          </a:solidFill>
                          <a:latin typeface="Meiryo"/>
                          <a:ea typeface="Meiryo"/>
                        </a:rPr>
                        <a:t>新規リード向け提案書ドラフト作成</a:t>
                      </a:r>
                    </a:p>
                  </a:txBody>
                  <a:tcPr marL="101600" marR="101600" marT="25400" marB="25400" anchor="ctr">
                    <a:solidFill>
                      <a:srgbClr val="FFFFFF"/>
                    </a:solidFill>
                  </a:tcPr>
                </a:tc>
                <a:tc>
                  <a:txBody>
                    <a:bodyPr wrap="square"/>
                    <a:lstStyle/>
                    <a:p>
                      <a:r>
                        <a:rPr sz="1400" b="0">
                          <a:solidFill>
                            <a:srgbClr val="10162C"/>
                          </a:solidFill>
                          <a:latin typeface="Meiryo"/>
                          <a:ea typeface="Meiryo"/>
                        </a:rPr>
                        <a:t>Claudeで提案書ドラフトを自動生成し営業担当が仕上げ・数値検証する</a:t>
                      </a:r>
                    </a:p>
                  </a:txBody>
                  <a:tcPr marL="101600" marR="101600" marT="25400" marB="25400" anchor="ctr">
                    <a:solidFill>
                      <a:srgbClr val="FFFFFF"/>
                    </a:solidFill>
                  </a:tcPr>
                </a:tc>
                <a:tc>
                  <a:txBody>
                    <a:bodyPr wrap="square"/>
                    <a:lstStyle/>
                    <a:p>
                      <a:pPr algn="ctr"/>
                      <a:r>
                        <a:rPr sz="1400" b="0">
                          <a:solidFill>
                            <a:srgbClr val="10162C"/>
                          </a:solidFill>
                          <a:latin typeface="Meiryo"/>
                          <a:ea typeface="Meiryo"/>
                        </a:rPr>
                        <a:t>9</a:t>
                      </a:r>
                    </a:p>
                  </a:txBody>
                  <a:tcPr marL="101600" marR="101600" marT="25400" marB="25400" anchor="ctr">
                    <a:solidFill>
                      <a:srgbClr val="FFFFFF"/>
                    </a:solidFill>
                  </a:tcPr>
                </a:tc>
              </a:tr>
              <a:tr h="548640">
                <a:tc>
                  <a:txBody>
                    <a:bodyPr wrap="square"/>
                    <a:lstStyle/>
                    <a:p>
                      <a:r>
                        <a:rPr sz="1400" b="0">
                          <a:solidFill>
                            <a:srgbClr val="10162C"/>
                          </a:solidFill>
                          <a:latin typeface="Meiryo"/>
                          <a:ea typeface="Meiryo"/>
                        </a:rPr>
                        <a:t>デジパラ登録フリーランスと案件のマッチング候補提示</a:t>
                      </a:r>
                    </a:p>
                  </a:txBody>
                  <a:tcPr marL="101600" marR="101600" marT="25400" marB="25400" anchor="ctr">
                    <a:solidFill>
                      <a:srgbClr val="EBEEF4"/>
                    </a:solidFill>
                  </a:tcPr>
                </a:tc>
                <a:tc>
                  <a:txBody>
                    <a:bodyPr wrap="square"/>
                    <a:lstStyle/>
                    <a:p>
                      <a:r>
                        <a:rPr sz="1400" b="0">
                          <a:solidFill>
                            <a:srgbClr val="10162C"/>
                          </a:solidFill>
                          <a:latin typeface="Meiryo"/>
                          <a:ea typeface="Meiryo"/>
                        </a:rPr>
                        <a:t>Claudeで案件要件と人材プロフィールを突合しマッチング候補を提示</a:t>
                      </a:r>
                    </a:p>
                  </a:txBody>
                  <a:tcPr marL="101600" marR="101600" marT="25400" marB="25400" anchor="ctr">
                    <a:solidFill>
                      <a:srgbClr val="EBEEF4"/>
                    </a:solidFill>
                  </a:tcPr>
                </a:tc>
                <a:tc>
                  <a:txBody>
                    <a:bodyPr wrap="square"/>
                    <a:lstStyle/>
                    <a:p>
                      <a:pPr algn="ctr"/>
                      <a:r>
                        <a:rPr sz="1400" b="0">
                          <a:solidFill>
                            <a:srgbClr val="10162C"/>
                          </a:solidFill>
                          <a:latin typeface="Meiryo"/>
                          <a:ea typeface="Meiryo"/>
                        </a:rPr>
                        <a:t>6</a:t>
                      </a:r>
                    </a:p>
                  </a:txBody>
                  <a:tcPr marL="101600" marR="101600" marT="25400" marB="25400" anchor="ctr">
                    <a:solidFill>
                      <a:srgbClr val="EBEEF4"/>
                    </a:solidFill>
                  </a:tcPr>
                </a:tc>
              </a:tr>
              <a:tr h="548640">
                <a:tc>
                  <a:txBody>
                    <a:bodyPr wrap="square"/>
                    <a:lstStyle/>
                    <a:p>
                      <a:r>
                        <a:rPr sz="1400" b="0">
                          <a:solidFill>
                            <a:srgbClr val="10162C"/>
                          </a:solidFill>
                          <a:latin typeface="Meiryo"/>
                          <a:ea typeface="Meiryo"/>
                        </a:rPr>
                        <a:t>SNS・広告クリエイティブ制作の初稿</a:t>
                      </a:r>
                    </a:p>
                  </a:txBody>
                  <a:tcPr marL="101600" marR="101600" marT="25400" marB="25400" anchor="ctr">
                    <a:solidFill>
                      <a:srgbClr val="FFFFFF"/>
                    </a:solidFill>
                  </a:tcPr>
                </a:tc>
                <a:tc>
                  <a:txBody>
                    <a:bodyPr wrap="square"/>
                    <a:lstStyle/>
                    <a:p>
                      <a:r>
                        <a:rPr sz="1400" b="0">
                          <a:solidFill>
                            <a:srgbClr val="10162C"/>
                          </a:solidFill>
                          <a:latin typeface="Meiryo"/>
                          <a:ea typeface="Meiryo"/>
                        </a:rPr>
                        <a:t>画像生成AI・Claudeでクリエイティブ初稿を作成しデザイナーが仕上げる</a:t>
                      </a:r>
                    </a:p>
                  </a:txBody>
                  <a:tcPr marL="101600" marR="101600" marT="25400" marB="25400" anchor="ctr">
                    <a:solidFill>
                      <a:srgbClr val="FFFFFF"/>
                    </a:solidFill>
                  </a:tcPr>
                </a:tc>
                <a:tc>
                  <a:txBody>
                    <a:bodyPr wrap="square"/>
                    <a:lstStyle/>
                    <a:p>
                      <a:pPr algn="ctr"/>
                      <a:r>
                        <a:rPr sz="1400" b="0">
                          <a:solidFill>
                            <a:srgbClr val="10162C"/>
                          </a:solidFill>
                          <a:latin typeface="Meiryo"/>
                          <a:ea typeface="Meiryo"/>
                        </a:rPr>
                        <a:t>5</a:t>
                      </a:r>
                    </a:p>
                  </a:txBody>
                  <a:tcPr marL="101600" marR="101600" marT="25400" marB="25400" anchor="ctr">
                    <a:solidFill>
                      <a:srgbClr val="FFFFFF"/>
                    </a:solidFill>
                  </a:tcPr>
                </a:tc>
              </a:tr>
              <a:tr h="548640">
                <a:tc>
                  <a:txBody>
                    <a:bodyPr wrap="square"/>
                    <a:lstStyle/>
                    <a:p>
                      <a:r>
                        <a:rPr sz="1400" b="0">
                          <a:solidFill>
                            <a:srgbClr val="10162C"/>
                          </a:solidFill>
                          <a:latin typeface="Meiryo"/>
                          <a:ea typeface="Meiryo"/>
                        </a:rPr>
                        <a:t>既存顧客の解約予兆分析</a:t>
                      </a:r>
                    </a:p>
                  </a:txBody>
                  <a:tcPr marL="101600" marR="101600" marT="25400" marB="25400" anchor="ctr">
                    <a:solidFill>
                      <a:srgbClr val="EBEEF4"/>
                    </a:solidFill>
                  </a:tcPr>
                </a:tc>
                <a:tc>
                  <a:txBody>
                    <a:bodyPr wrap="square"/>
                    <a:lstStyle/>
                    <a:p>
                      <a:r>
                        <a:rPr sz="1400" b="0">
                          <a:solidFill>
                            <a:srgbClr val="10162C"/>
                          </a:solidFill>
                          <a:latin typeface="Meiryo"/>
                          <a:ea typeface="Meiryo"/>
                        </a:rPr>
                        <a:t>Claudeで利用ログ・接触履歴を分析し解約リスクスコアを算出</a:t>
                      </a:r>
                    </a:p>
                  </a:txBody>
                  <a:tcPr marL="101600" marR="101600" marT="25400" marB="25400" anchor="ctr">
                    <a:solidFill>
                      <a:srgbClr val="EBEEF4"/>
                    </a:solidFill>
                  </a:tcPr>
                </a:tc>
                <a:tc>
                  <a:txBody>
                    <a:bodyPr wrap="square"/>
                    <a:lstStyle/>
                    <a:p>
                      <a:pPr algn="ctr"/>
                      <a:r>
                        <a:rPr sz="1400" b="0">
                          <a:solidFill>
                            <a:srgbClr val="10162C"/>
                          </a:solidFill>
                          <a:latin typeface="Meiryo"/>
                          <a:ea typeface="Meiryo"/>
                        </a:rPr>
                        <a:t>5</a:t>
                      </a:r>
                    </a:p>
                  </a:txBody>
                  <a:tcPr marL="101600" marR="101600" marT="25400" marB="25400" anchor="ctr">
                    <a:solidFill>
                      <a:srgbClr val="EBEEF4"/>
                    </a:solidFill>
                  </a:tcPr>
                </a:tc>
              </a:tr>
              <a:tr h="548640">
                <a:tc>
                  <a:txBody>
                    <a:bodyPr wrap="square"/>
                    <a:lstStyle/>
                    <a:p>
                      <a:r>
                        <a:rPr sz="1400" b="0">
                          <a:solidFill>
                            <a:srgbClr val="10162C"/>
                          </a:solidFill>
                          <a:latin typeface="Meiryo"/>
                          <a:ea typeface="Meiryo"/>
                        </a:rPr>
                        <a:t>研修カリキュラムのカスタマイズ設計</a:t>
                      </a:r>
                    </a:p>
                  </a:txBody>
                  <a:tcPr marL="101600" marR="101600" marT="25400" marB="25400" anchor="ctr">
                    <a:solidFill>
                      <a:srgbClr val="FFFFFF"/>
                    </a:solidFill>
                  </a:tcPr>
                </a:tc>
                <a:tc>
                  <a:txBody>
                    <a:bodyPr wrap="square"/>
                    <a:lstStyle/>
                    <a:p>
                      <a:r>
                        <a:rPr sz="1400" b="0">
                          <a:solidFill>
                            <a:srgbClr val="10162C"/>
                          </a:solidFill>
                          <a:latin typeface="Meiryo"/>
                          <a:ea typeface="Meiryo"/>
                        </a:rPr>
                        <a:t>Claudeで業種別カリキュラム案を生成し研修講師が最終調整する</a:t>
                      </a:r>
                    </a:p>
                  </a:txBody>
                  <a:tcPr marL="101600" marR="101600" marT="25400" marB="25400" anchor="ctr">
                    <a:solidFill>
                      <a:srgbClr val="FFFFFF"/>
                    </a:solidFill>
                  </a:tcPr>
                </a:tc>
                <a:tc>
                  <a:txBody>
                    <a:bodyPr wrap="square"/>
                    <a:lstStyle/>
                    <a:p>
                      <a:pPr algn="ctr"/>
                      <a:r>
                        <a:rPr sz="1400" b="0">
                          <a:solidFill>
                            <a:srgbClr val="10162C"/>
                          </a:solidFill>
                          <a:latin typeface="Meiryo"/>
                          <a:ea typeface="Meiryo"/>
                        </a:rPr>
                        <a:t>5</a:t>
                      </a:r>
                    </a:p>
                  </a:txBody>
                  <a:tcPr marL="101600" marR="101600" marT="25400" marB="25400" anchor="ctr">
                    <a:solidFill>
                      <a:srgbClr val="FFFFFF"/>
                    </a:solidFill>
                  </a:tcPr>
                </a:tc>
              </a:tr>
              <a:tr h="548640">
                <a:tc>
                  <a:txBody>
                    <a:bodyPr wrap="square"/>
                    <a:lstStyle/>
                    <a:p>
                      <a:r>
                        <a:rPr sz="1400" b="0">
                          <a:solidFill>
                            <a:srgbClr val="10162C"/>
                          </a:solidFill>
                          <a:latin typeface="Meiryo"/>
                          <a:ea typeface="Meiryo"/>
                        </a:rPr>
                        <a:t>SEO・検索エンジン対策の課題分析</a:t>
                      </a:r>
                    </a:p>
                  </a:txBody>
                  <a:tcPr marL="101600" marR="101600" marT="25400" marB="25400" anchor="ctr">
                    <a:solidFill>
                      <a:srgbClr val="EBEEF4"/>
                    </a:solidFill>
                  </a:tcPr>
                </a:tc>
                <a:tc>
                  <a:txBody>
                    <a:bodyPr wrap="square"/>
                    <a:lstStyle/>
                    <a:p>
                      <a:r>
                        <a:rPr sz="1400" b="0">
                          <a:solidFill>
                            <a:srgbClr val="10162C"/>
                          </a:solidFill>
                          <a:latin typeface="Meiryo"/>
                          <a:ea typeface="Meiryo"/>
                        </a:rPr>
                        <a:t>Claude＋SEOツールAPIで診断・改善案のたたき台を自動生成</a:t>
                      </a:r>
                    </a:p>
                  </a:txBody>
                  <a:tcPr marL="101600" marR="101600" marT="25400" marB="25400" anchor="ctr">
                    <a:solidFill>
                      <a:srgbClr val="EBEEF4"/>
                    </a:solidFill>
                  </a:tcPr>
                </a:tc>
                <a:tc>
                  <a:txBody>
                    <a:bodyPr wrap="square"/>
                    <a:lstStyle/>
                    <a:p>
                      <a:pPr algn="ctr"/>
                      <a:r>
                        <a:rPr sz="1400" b="0">
                          <a:solidFill>
                            <a:srgbClr val="10162C"/>
                          </a:solidFill>
                          <a:latin typeface="Meiryo"/>
                          <a:ea typeface="Meiryo"/>
                        </a:rPr>
                        <a:t>4</a:t>
                      </a:r>
                    </a:p>
                  </a:txBody>
                  <a:tcPr marL="101600" marR="101600" marT="25400" marB="25400" anchor="ctr">
                    <a:solidFill>
                      <a:srgbClr val="EBEEF4"/>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87552"/>
          </a:xfrm>
          <a:prstGeom prst="rect">
            <a:avLst/>
          </a:prstGeom>
          <a:solidFill>
            <a:srgbClr val="22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987552"/>
          </a:xfrm>
          <a:prstGeom prst="rect">
            <a:avLst/>
          </a:prstGeom>
          <a:solidFill>
            <a:srgbClr val="8C3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87552"/>
            <a:ext cx="12191695" cy="30480"/>
          </a:xfrm>
          <a:prstGeom prst="rect">
            <a:avLst/>
          </a:prstGeom>
          <a:solidFill>
            <a:srgbClr val="C6A0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0"/>
            <a:ext cx="10424160" cy="987552"/>
          </a:xfrm>
          <a:prstGeom prst="rect">
            <a:avLst/>
          </a:prstGeom>
          <a:noFill/>
        </p:spPr>
        <p:txBody>
          <a:bodyPr wrap="square" anchor="ctr" lIns="50800" rIns="50800" tIns="25400" bIns="25400">
            <a:spAutoFit/>
          </a:bodyPr>
          <a:lstStyle/>
          <a:p>
            <a:pPr algn="l">
              <a:lnSpc>
                <a:spcPct val="110000"/>
              </a:lnSpc>
              <a:spcAft>
                <a:spcPts val="400"/>
              </a:spcAft>
            </a:pPr>
            <a:r>
              <a:rPr sz="3000" b="1">
                <a:solidFill>
                  <a:srgbClr val="FFFFFF"/>
                </a:solidFill>
                <a:latin typeface="Meiryo"/>
                <a:ea typeface="Meiryo"/>
              </a:rPr>
              <a:t>👤 人間専任業務</a:t>
            </a:r>
          </a:p>
        </p:txBody>
      </p:sp>
      <p:cxnSp>
        <p:nvCxnSpPr>
          <p:cNvPr id="7" name="Connector 6"/>
          <p:cNvCxnSpPr/>
          <p:nvPr/>
        </p:nvCxnSpPr>
        <p:spPr>
          <a:xfrm>
            <a:off x="502920" y="6437376"/>
            <a:ext cx="11183112" cy="0"/>
          </a:xfrm>
          <a:prstGeom prst="bentConnector3">
            <a:avLst/>
          </a:prstGeom>
          <a:ln w="9525">
            <a:solidFill>
              <a:srgbClr val="D5DAE5"/>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7315200" cy="310896"/>
          </a:xfrm>
          <a:prstGeom prst="rect">
            <a:avLst/>
          </a:prstGeom>
          <a:noFill/>
        </p:spPr>
        <p:txBody>
          <a:bodyPr wrap="square" anchor="ctr" lIns="50800" rIns="50800" tIns="25400" bIns="25400">
            <a:spAutoFit/>
          </a:bodyPr>
          <a:lstStyle/>
          <a:p>
            <a:pPr algn="l">
              <a:lnSpc>
                <a:spcPct val="110000"/>
              </a:lnSpc>
              <a:spcAft>
                <a:spcPts val="400"/>
              </a:spcAft>
            </a:pPr>
            <a:r>
              <a:rPr sz="1100" b="0">
                <a:solidFill>
                  <a:srgbClr val="8A95AC"/>
                </a:solidFill>
                <a:latin typeface="Meiryo"/>
                <a:ea typeface="Meiryo"/>
              </a:rPr>
              <a:t>株式会社コミクス　│　AI 業務トリアージ</a:t>
            </a:r>
          </a:p>
        </p:txBody>
      </p:sp>
      <p:sp>
        <p:nvSpPr>
          <p:cNvPr id="9" name="TextBox 8"/>
          <p:cNvSpPr txBox="1"/>
          <p:nvPr/>
        </p:nvSpPr>
        <p:spPr>
          <a:xfrm>
            <a:off x="9857232" y="6473952"/>
            <a:ext cx="1828800" cy="310896"/>
          </a:xfrm>
          <a:prstGeom prst="rect">
            <a:avLst/>
          </a:prstGeom>
          <a:noFill/>
        </p:spPr>
        <p:txBody>
          <a:bodyPr wrap="square" anchor="ctr" lIns="50800" rIns="50800" tIns="25400" bIns="25400">
            <a:spAutoFit/>
          </a:bodyPr>
          <a:lstStyle/>
          <a:p>
            <a:pPr algn="r">
              <a:lnSpc>
                <a:spcPct val="110000"/>
              </a:lnSpc>
              <a:spcAft>
                <a:spcPts val="400"/>
              </a:spcAft>
            </a:pPr>
            <a:r>
              <a:rPr sz="1200" b="1">
                <a:solidFill>
                  <a:srgbClr val="394773"/>
                </a:solidFill>
                <a:latin typeface="Meiryo"/>
                <a:ea typeface="Meiryo"/>
              </a:rPr>
              <a:t>07 / 12</a:t>
            </a:r>
          </a:p>
        </p:txBody>
      </p:sp>
      <p:sp>
        <p:nvSpPr>
          <p:cNvPr id="10" name="Rectangle 9"/>
          <p:cNvSpPr/>
          <p:nvPr/>
        </p:nvSpPr>
        <p:spPr>
          <a:xfrm>
            <a:off x="0" y="1005840"/>
            <a:ext cx="12191695" cy="475488"/>
          </a:xfrm>
          <a:prstGeom prst="rect">
            <a:avLst/>
          </a:prstGeom>
          <a:solidFill>
            <a:srgbClr val="F4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005840"/>
            <a:ext cx="11155680" cy="475488"/>
          </a:xfrm>
          <a:prstGeom prst="rect">
            <a:avLst/>
          </a:prstGeom>
          <a:noFill/>
        </p:spPr>
        <p:txBody>
          <a:bodyPr wrap="square" anchor="ctr" lIns="50800" rIns="50800" tIns="25400" bIns="25400">
            <a:spAutoFit/>
          </a:bodyPr>
          <a:lstStyle/>
          <a:p>
            <a:pPr algn="l">
              <a:lnSpc>
                <a:spcPct val="110000"/>
              </a:lnSpc>
              <a:spcAft>
                <a:spcPts val="400"/>
              </a:spcAft>
            </a:pPr>
            <a:r>
              <a:rPr sz="1400" b="1">
                <a:solidFill>
                  <a:srgbClr val="8C3463"/>
                </a:solidFill>
                <a:latin typeface="Meiryo"/>
                <a:ea typeface="Meiryo"/>
              </a:rPr>
              <a:t>人の判断・信頼・創造性が本質で、AI に渡すべきでない業務。競争力の源泉。</a:t>
            </a:r>
          </a:p>
        </p:txBody>
      </p:sp>
      <p:graphicFrame>
        <p:nvGraphicFramePr>
          <p:cNvPr id="12" name="Table 11"/>
          <p:cNvGraphicFramePr>
            <a:graphicFrameLocks noGrp="1"/>
          </p:cNvGraphicFramePr>
          <p:nvPr/>
        </p:nvGraphicFramePr>
        <p:xfrm>
          <a:off x="457200" y="1691640"/>
          <a:ext cx="11274552" cy="2633472"/>
        </p:xfrm>
        <a:graphic>
          <a:graphicData uri="http://schemas.openxmlformats.org/drawingml/2006/table">
            <a:tbl>
              <a:tblPr>
                <a:tableStyleId>{5C22544A-7EE6-4342-B048-85BDC9FD1C3A}</a:tableStyleId>
              </a:tblPr>
              <a:tblGrid>
                <a:gridCol w="3657600"/>
                <a:gridCol w="6519672"/>
                <a:gridCol w="1097280"/>
              </a:tblGrid>
              <a:tr h="658368">
                <a:tc>
                  <a:txBody>
                    <a:bodyPr wrap="square"/>
                    <a:lstStyle/>
                    <a:p>
                      <a:r>
                        <a:rPr sz="1600" b="1">
                          <a:solidFill>
                            <a:srgbClr val="FFFFFF"/>
                          </a:solidFill>
                          <a:latin typeface="Meiryo"/>
                          <a:ea typeface="Meiryo"/>
                        </a:rPr>
                        <a:t>業務</a:t>
                      </a:r>
                    </a:p>
                  </a:txBody>
                  <a:tcPr marL="101600" marR="101600" marT="25400" marB="25400" anchor="ctr">
                    <a:solidFill>
                      <a:srgbClr val="8C3463"/>
                    </a:solidFill>
                  </a:tcPr>
                </a:tc>
                <a:tc>
                  <a:txBody>
                    <a:bodyPr wrap="square"/>
                    <a:lstStyle/>
                    <a:p>
                      <a:r>
                        <a:rPr sz="1600" b="1">
                          <a:solidFill>
                            <a:srgbClr val="FFFFFF"/>
                          </a:solidFill>
                          <a:latin typeface="Meiryo"/>
                          <a:ea typeface="Meiryo"/>
                        </a:rPr>
                        <a:t>人が担う理由</a:t>
                      </a:r>
                    </a:p>
                  </a:txBody>
                  <a:tcPr marL="101600" marR="101600" marT="25400" marB="25400" anchor="ctr">
                    <a:solidFill>
                      <a:srgbClr val="8C3463"/>
                    </a:solidFill>
                  </a:tcPr>
                </a:tc>
                <a:tc>
                  <a:txBody>
                    <a:bodyPr wrap="square"/>
                    <a:lstStyle/>
                    <a:p>
                      <a:pPr algn="ctr"/>
                      <a:r>
                        <a:rPr sz="1600" b="1">
                          <a:solidFill>
                            <a:srgbClr val="FFFFFF"/>
                          </a:solidFill>
                          <a:latin typeface="Meiryo"/>
                          <a:ea typeface="Meiryo"/>
                        </a:rPr>
                        <a:t>売上</a:t>
                      </a:r>
                    </a:p>
                  </a:txBody>
                  <a:tcPr marL="101600" marR="101600" marT="25400" marB="25400" anchor="ctr">
                    <a:solidFill>
                      <a:srgbClr val="8C3463"/>
                    </a:solidFill>
                  </a:tcPr>
                </a:tc>
              </a:tr>
              <a:tr h="658368">
                <a:tc>
                  <a:txBody>
                    <a:bodyPr wrap="square"/>
                    <a:lstStyle/>
                    <a:p>
                      <a:r>
                        <a:rPr sz="1500" b="0">
                          <a:solidFill>
                            <a:srgbClr val="10162C"/>
                          </a:solidFill>
                          <a:latin typeface="Meiryo"/>
                          <a:ea typeface="Meiryo"/>
                        </a:rPr>
                        <a:t>新規商談・クロージング交渉</a:t>
                      </a:r>
                    </a:p>
                  </a:txBody>
                  <a:tcPr marL="101600" marR="101600" marT="25400" marB="25400" anchor="ctr">
                    <a:solidFill>
                      <a:srgbClr val="FFFFFF"/>
                    </a:solidFill>
                  </a:tcPr>
                </a:tc>
                <a:tc>
                  <a:txBody>
                    <a:bodyPr wrap="square"/>
                    <a:lstStyle/>
                    <a:p>
                      <a:r>
                        <a:rPr sz="1500" b="0">
                          <a:solidFill>
                            <a:srgbClr val="10162C"/>
                          </a:solidFill>
                          <a:latin typeface="Meiryo"/>
                          <a:ea typeface="Meiryo"/>
                        </a:rPr>
                        <a:t>信頼構築と価格・条件交渉は人でなければ成立しない受注の核心業務</a:t>
                      </a:r>
                    </a:p>
                  </a:txBody>
                  <a:tcPr marL="101600" marR="101600" marT="25400" marB="25400" anchor="ctr">
                    <a:solidFill>
                      <a:srgbClr val="FFFFFF"/>
                    </a:solidFill>
                  </a:tcPr>
                </a:tc>
                <a:tc>
                  <a:txBody>
                    <a:bodyPr wrap="square"/>
                    <a:lstStyle/>
                    <a:p>
                      <a:pPr algn="ctr"/>
                      <a:r>
                        <a:rPr sz="1500" b="0">
                          <a:solidFill>
                            <a:srgbClr val="10162C"/>
                          </a:solidFill>
                          <a:latin typeface="Meiryo"/>
                          <a:ea typeface="Meiryo"/>
                        </a:rPr>
                        <a:t>5</a:t>
                      </a:r>
                    </a:p>
                  </a:txBody>
                  <a:tcPr marL="101600" marR="101600" marT="25400" marB="25400" anchor="ctr">
                    <a:solidFill>
                      <a:srgbClr val="FFFFFF"/>
                    </a:solidFill>
                  </a:tcPr>
                </a:tc>
              </a:tr>
              <a:tr h="658368">
                <a:tc>
                  <a:txBody>
                    <a:bodyPr wrap="square"/>
                    <a:lstStyle/>
                    <a:p>
                      <a:r>
                        <a:rPr sz="1500" b="0">
                          <a:solidFill>
                            <a:srgbClr val="10162C"/>
                          </a:solidFill>
                          <a:latin typeface="Meiryo"/>
                          <a:ea typeface="Meiryo"/>
                        </a:rPr>
                        <a:t>重大クレーム・契約トラブルの最終対応</a:t>
                      </a:r>
                    </a:p>
                  </a:txBody>
                  <a:tcPr marL="101600" marR="101600" marT="25400" marB="25400" anchor="ctr">
                    <a:solidFill>
                      <a:srgbClr val="EBEEF4"/>
                    </a:solidFill>
                  </a:tcPr>
                </a:tc>
                <a:tc>
                  <a:txBody>
                    <a:bodyPr wrap="square"/>
                    <a:lstStyle/>
                    <a:p>
                      <a:r>
                        <a:rPr sz="1500" b="0">
                          <a:solidFill>
                            <a:srgbClr val="10162C"/>
                          </a:solidFill>
                          <a:latin typeface="Meiryo"/>
                          <a:ea typeface="Meiryo"/>
                        </a:rPr>
                        <a:t>関係継続の可否や責任判断は経営・担当役員の最終ジャッジが不可欠</a:t>
                      </a:r>
                    </a:p>
                  </a:txBody>
                  <a:tcPr marL="101600" marR="101600" marT="25400" marB="25400" anchor="ctr">
                    <a:solidFill>
                      <a:srgbClr val="EBEEF4"/>
                    </a:solidFill>
                  </a:tcPr>
                </a:tc>
                <a:tc>
                  <a:txBody>
                    <a:bodyPr wrap="square"/>
                    <a:lstStyle/>
                    <a:p>
                      <a:pPr algn="ctr"/>
                      <a:r>
                        <a:rPr sz="1500" b="0">
                          <a:solidFill>
                            <a:srgbClr val="10162C"/>
                          </a:solidFill>
                          <a:latin typeface="Meiryo"/>
                          <a:ea typeface="Meiryo"/>
                        </a:rPr>
                        <a:t>4</a:t>
                      </a:r>
                    </a:p>
                  </a:txBody>
                  <a:tcPr marL="101600" marR="101600" marT="25400" marB="25400" anchor="ctr">
                    <a:solidFill>
                      <a:srgbClr val="EBEEF4"/>
                    </a:solidFill>
                  </a:tcPr>
                </a:tc>
              </a:tr>
              <a:tr h="658368">
                <a:tc>
                  <a:txBody>
                    <a:bodyPr wrap="square"/>
                    <a:lstStyle/>
                    <a:p>
                      <a:r>
                        <a:rPr sz="1500" b="0">
                          <a:solidFill>
                            <a:srgbClr val="10162C"/>
                          </a:solidFill>
                          <a:latin typeface="Meiryo"/>
                          <a:ea typeface="Meiryo"/>
                        </a:rPr>
                        <a:t>採用最終面接・評価面談</a:t>
                      </a:r>
                    </a:p>
                  </a:txBody>
                  <a:tcPr marL="101600" marR="101600" marT="25400" marB="25400" anchor="ctr">
                    <a:solidFill>
                      <a:srgbClr val="FFFFFF"/>
                    </a:solidFill>
                  </a:tcPr>
                </a:tc>
                <a:tc>
                  <a:txBody>
                    <a:bodyPr wrap="square"/>
                    <a:lstStyle/>
                    <a:p>
                      <a:r>
                        <a:rPr sz="1500" b="0">
                          <a:solidFill>
                            <a:srgbClr val="10162C"/>
                          </a:solidFill>
                          <a:latin typeface="Meiryo"/>
                          <a:ea typeface="Meiryo"/>
                        </a:rPr>
                        <a:t>人物評価と動機づけは対人接点そのものが価値であり人が担う</a:t>
                      </a:r>
                    </a:p>
                  </a:txBody>
                  <a:tcPr marL="101600" marR="101600" marT="25400" marB="25400" anchor="ctr">
                    <a:solidFill>
                      <a:srgbClr val="FFFFFF"/>
                    </a:solidFill>
                  </a:tcPr>
                </a:tc>
                <a:tc>
                  <a:txBody>
                    <a:bodyPr wrap="square"/>
                    <a:lstStyle/>
                    <a:p>
                      <a:pPr algn="ctr"/>
                      <a:r>
                        <a:rPr sz="1500" b="0">
                          <a:solidFill>
                            <a:srgbClr val="10162C"/>
                          </a:solidFill>
                          <a:latin typeface="Meiryo"/>
                          <a:ea typeface="Meiryo"/>
                        </a:rPr>
                        <a:t>3</a:t>
                      </a:r>
                    </a:p>
                  </a:txBody>
                  <a:tcPr marL="101600" marR="101600" marT="25400" marB="25400"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87552"/>
          </a:xfrm>
          <a:prstGeom prst="rect">
            <a:avLst/>
          </a:prstGeom>
          <a:solidFill>
            <a:srgbClr val="22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987552"/>
          </a:xfrm>
          <a:prstGeom prst="rect">
            <a:avLst/>
          </a:prstGeom>
          <a:solidFill>
            <a:srgbClr val="E06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87552"/>
            <a:ext cx="12191695" cy="30480"/>
          </a:xfrm>
          <a:prstGeom prst="rect">
            <a:avLst/>
          </a:prstGeom>
          <a:solidFill>
            <a:srgbClr val="C6A0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0"/>
            <a:ext cx="10424160" cy="987552"/>
          </a:xfrm>
          <a:prstGeom prst="rect">
            <a:avLst/>
          </a:prstGeom>
          <a:noFill/>
        </p:spPr>
        <p:txBody>
          <a:bodyPr wrap="square" anchor="ctr" lIns="50800" rIns="50800" tIns="25400" bIns="25400">
            <a:spAutoFit/>
          </a:bodyPr>
          <a:lstStyle/>
          <a:p>
            <a:pPr algn="l">
              <a:lnSpc>
                <a:spcPct val="110000"/>
              </a:lnSpc>
              <a:spcAft>
                <a:spcPts val="400"/>
              </a:spcAft>
            </a:pPr>
            <a:r>
              <a:rPr sz="3000" b="1">
                <a:solidFill>
                  <a:srgbClr val="FFFFFF"/>
                </a:solidFill>
                <a:latin typeface="Meiryo"/>
                <a:ea typeface="Meiryo"/>
              </a:rPr>
              <a:t>優先度マトリクス（売上インパクト × 実装難易度）</a:t>
            </a:r>
          </a:p>
        </p:txBody>
      </p:sp>
      <p:cxnSp>
        <p:nvCxnSpPr>
          <p:cNvPr id="7" name="Connector 6"/>
          <p:cNvCxnSpPr/>
          <p:nvPr/>
        </p:nvCxnSpPr>
        <p:spPr>
          <a:xfrm>
            <a:off x="502920" y="6437376"/>
            <a:ext cx="11183112" cy="0"/>
          </a:xfrm>
          <a:prstGeom prst="bentConnector3">
            <a:avLst/>
          </a:prstGeom>
          <a:ln w="9525">
            <a:solidFill>
              <a:srgbClr val="D5DAE5"/>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7315200" cy="310896"/>
          </a:xfrm>
          <a:prstGeom prst="rect">
            <a:avLst/>
          </a:prstGeom>
          <a:noFill/>
        </p:spPr>
        <p:txBody>
          <a:bodyPr wrap="square" anchor="ctr" lIns="50800" rIns="50800" tIns="25400" bIns="25400">
            <a:spAutoFit/>
          </a:bodyPr>
          <a:lstStyle/>
          <a:p>
            <a:pPr algn="l">
              <a:lnSpc>
                <a:spcPct val="110000"/>
              </a:lnSpc>
              <a:spcAft>
                <a:spcPts val="400"/>
              </a:spcAft>
            </a:pPr>
            <a:r>
              <a:rPr sz="1100" b="0">
                <a:solidFill>
                  <a:srgbClr val="8A95AC"/>
                </a:solidFill>
                <a:latin typeface="Meiryo"/>
                <a:ea typeface="Meiryo"/>
              </a:rPr>
              <a:t>株式会社コミクス　│　AI 業務トリアージ</a:t>
            </a:r>
          </a:p>
        </p:txBody>
      </p:sp>
      <p:sp>
        <p:nvSpPr>
          <p:cNvPr id="9" name="TextBox 8"/>
          <p:cNvSpPr txBox="1"/>
          <p:nvPr/>
        </p:nvSpPr>
        <p:spPr>
          <a:xfrm>
            <a:off x="9857232" y="6473952"/>
            <a:ext cx="1828800" cy="310896"/>
          </a:xfrm>
          <a:prstGeom prst="rect">
            <a:avLst/>
          </a:prstGeom>
          <a:noFill/>
        </p:spPr>
        <p:txBody>
          <a:bodyPr wrap="square" anchor="ctr" lIns="50800" rIns="50800" tIns="25400" bIns="25400">
            <a:spAutoFit/>
          </a:bodyPr>
          <a:lstStyle/>
          <a:p>
            <a:pPr algn="r">
              <a:lnSpc>
                <a:spcPct val="110000"/>
              </a:lnSpc>
              <a:spcAft>
                <a:spcPts val="400"/>
              </a:spcAft>
            </a:pPr>
            <a:r>
              <a:rPr sz="1200" b="1">
                <a:solidFill>
                  <a:srgbClr val="394773"/>
                </a:solidFill>
                <a:latin typeface="Meiryo"/>
                <a:ea typeface="Meiryo"/>
              </a:rPr>
              <a:t>08 / 12</a:t>
            </a:r>
          </a:p>
        </p:txBody>
      </p:sp>
      <p:sp>
        <p:nvSpPr>
          <p:cNvPr id="10" name="Rectangle 9"/>
          <p:cNvSpPr/>
          <p:nvPr/>
        </p:nvSpPr>
        <p:spPr>
          <a:xfrm>
            <a:off x="1600200" y="1481328"/>
            <a:ext cx="8138160" cy="4526280"/>
          </a:xfrm>
          <a:prstGeom prst="rect">
            <a:avLst/>
          </a:prstGeom>
          <a:solidFill>
            <a:srgbClr val="F5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600200" y="1481328"/>
            <a:ext cx="4069080" cy="2263140"/>
          </a:xfrm>
          <a:prstGeom prst="rect">
            <a:avLst/>
          </a:prstGeom>
          <a:solidFill>
            <a:srgbClr val="E8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09928" y="1572768"/>
            <a:ext cx="3108960" cy="365760"/>
          </a:xfrm>
          <a:prstGeom prst="rect">
            <a:avLst/>
          </a:prstGeom>
          <a:noFill/>
        </p:spPr>
        <p:txBody>
          <a:bodyPr wrap="square" anchor="t" lIns="50800" rIns="50800" tIns="25400" bIns="25400">
            <a:spAutoFit/>
          </a:bodyPr>
          <a:lstStyle/>
          <a:p>
            <a:pPr algn="l">
              <a:lnSpc>
                <a:spcPct val="110000"/>
              </a:lnSpc>
              <a:spcAft>
                <a:spcPts val="400"/>
              </a:spcAft>
            </a:pPr>
            <a:r>
              <a:rPr sz="1300" b="1">
                <a:solidFill>
                  <a:srgbClr val="1E7A5E"/>
                </a:solidFill>
                <a:latin typeface="Meiryo"/>
                <a:ea typeface="Meiryo"/>
              </a:rPr>
              <a:t>◤ クイックウィン領域</a:t>
            </a:r>
          </a:p>
        </p:txBody>
      </p:sp>
      <p:cxnSp>
        <p:nvCxnSpPr>
          <p:cNvPr id="13" name="Connector 12"/>
          <p:cNvCxnSpPr/>
          <p:nvPr/>
        </p:nvCxnSpPr>
        <p:spPr>
          <a:xfrm>
            <a:off x="3227832" y="1481328"/>
            <a:ext cx="0" cy="4526280"/>
          </a:xfrm>
          <a:prstGeom prst="bentConnector3">
            <a:avLst/>
          </a:prstGeom>
          <a:ln w="9525">
            <a:solidFill>
              <a:srgbClr val="D5DAE5"/>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600200" y="2386584"/>
            <a:ext cx="8138160" cy="0"/>
          </a:xfrm>
          <a:prstGeom prst="bentConnector3">
            <a:avLst/>
          </a:prstGeom>
          <a:ln w="9525">
            <a:solidFill>
              <a:srgbClr val="D5DAE5"/>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855464" y="1481328"/>
            <a:ext cx="0" cy="4526280"/>
          </a:xfrm>
          <a:prstGeom prst="bentConnector3">
            <a:avLst/>
          </a:prstGeom>
          <a:ln w="9525">
            <a:solidFill>
              <a:srgbClr val="D5DAE5"/>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600200" y="3291840"/>
            <a:ext cx="8138160" cy="0"/>
          </a:xfrm>
          <a:prstGeom prst="bentConnector3">
            <a:avLst/>
          </a:prstGeom>
          <a:ln w="9525">
            <a:solidFill>
              <a:srgbClr val="D5DAE5"/>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483096" y="1481328"/>
            <a:ext cx="0" cy="4526280"/>
          </a:xfrm>
          <a:prstGeom prst="bentConnector3">
            <a:avLst/>
          </a:prstGeom>
          <a:ln w="9525">
            <a:solidFill>
              <a:srgbClr val="D5DAE5"/>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600200" y="4197096"/>
            <a:ext cx="8138160" cy="0"/>
          </a:xfrm>
          <a:prstGeom prst="bentConnector3">
            <a:avLst/>
          </a:prstGeom>
          <a:ln w="9525">
            <a:solidFill>
              <a:srgbClr val="D5DAE5"/>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110728" y="1481328"/>
            <a:ext cx="0" cy="4526280"/>
          </a:xfrm>
          <a:prstGeom prst="bentConnector3">
            <a:avLst/>
          </a:prstGeom>
          <a:ln w="9525">
            <a:solidFill>
              <a:srgbClr val="D5DAE5"/>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600200" y="5102352"/>
            <a:ext cx="8138160" cy="0"/>
          </a:xfrm>
          <a:prstGeom prst="bentConnector3">
            <a:avLst/>
          </a:prstGeom>
          <a:ln w="9525">
            <a:solidFill>
              <a:srgbClr val="D5DAE5"/>
            </a:solidFill>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1600200" y="1481328"/>
            <a:ext cx="8138160" cy="4526280"/>
          </a:xfrm>
          <a:prstGeom prst="rect">
            <a:avLst/>
          </a:prstGeom>
          <a:noFill/>
          <a:ln w="15875">
            <a:solidFill>
              <a:srgbClr val="3947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00200" y="6135624"/>
            <a:ext cx="8138160" cy="365760"/>
          </a:xfrm>
          <a:prstGeom prst="rect">
            <a:avLst/>
          </a:prstGeom>
          <a:noFill/>
        </p:spPr>
        <p:txBody>
          <a:bodyPr wrap="square" anchor="t" lIns="50800" rIns="50800" tIns="25400" bIns="25400">
            <a:spAutoFit/>
          </a:bodyPr>
          <a:lstStyle/>
          <a:p>
            <a:pPr algn="ctr">
              <a:lnSpc>
                <a:spcPct val="110000"/>
              </a:lnSpc>
              <a:spcAft>
                <a:spcPts val="400"/>
              </a:spcAft>
            </a:pPr>
            <a:r>
              <a:rPr sz="1600" b="1">
                <a:solidFill>
                  <a:srgbClr val="3C4357"/>
                </a:solidFill>
                <a:latin typeface="Meiryo"/>
                <a:ea typeface="Meiryo"/>
              </a:rPr>
              <a:t>実装難易度　低 ───────→ 高</a:t>
            </a:r>
          </a:p>
        </p:txBody>
      </p:sp>
      <p:sp>
        <p:nvSpPr>
          <p:cNvPr id="23" name="TextBox 22"/>
          <p:cNvSpPr txBox="1"/>
          <p:nvPr/>
        </p:nvSpPr>
        <p:spPr>
          <a:xfrm>
            <a:off x="365760" y="1481328"/>
            <a:ext cx="1051560" cy="4526280"/>
          </a:xfrm>
          <a:prstGeom prst="rect">
            <a:avLst/>
          </a:prstGeom>
          <a:noFill/>
        </p:spPr>
        <p:txBody>
          <a:bodyPr wrap="square" anchor="ctr">
            <a:spAutoFit/>
          </a:bodyPr>
          <a:lstStyle/>
          <a:p>
            <a:pPr algn="ctr"/>
            <a:r>
              <a:rPr sz="1600" b="1">
                <a:solidFill>
                  <a:srgbClr val="3C4357"/>
                </a:solidFill>
                <a:latin typeface="Meiryo"/>
                <a:ea typeface="Meiryo"/>
              </a:rPr>
              <a:t>売上インパクト</a:t>
            </a:r>
          </a:p>
          <a:p>
            <a:pPr algn="ctr"/>
            <a:r>
              <a:rPr sz="1600" b="1">
                <a:solidFill>
                  <a:srgbClr val="3C4357"/>
                </a:solidFill>
                <a:latin typeface="Meiryo"/>
                <a:ea typeface="Meiryo"/>
              </a:rPr>
              <a:t>高</a:t>
            </a:r>
          </a:p>
          <a:p>
            <a:pPr algn="ctr"/>
            <a:r>
              <a:rPr sz="1600" b="1">
                <a:solidFill>
                  <a:srgbClr val="3C4357"/>
                </a:solidFill>
                <a:latin typeface="Meiryo"/>
                <a:ea typeface="Meiryo"/>
              </a:rPr>
              <a:t>↑</a:t>
            </a:r>
          </a:p>
          <a:p>
            <a:pPr algn="ctr"/>
            <a:r>
              <a:rPr sz="1600" b="1">
                <a:solidFill>
                  <a:srgbClr val="3C4357"/>
                </a:solidFill>
                <a:latin typeface="Meiryo"/>
                <a:ea typeface="Meiryo"/>
              </a:rPr>
              <a:t>低</a:t>
            </a:r>
          </a:p>
        </p:txBody>
      </p:sp>
      <p:sp>
        <p:nvSpPr>
          <p:cNvPr id="24" name="Oval 23"/>
          <p:cNvSpPr/>
          <p:nvPr/>
        </p:nvSpPr>
        <p:spPr>
          <a:xfrm>
            <a:off x="3506724" y="3488436"/>
            <a:ext cx="512064" cy="512064"/>
          </a:xfrm>
          <a:prstGeom prst="ellipse">
            <a:avLst/>
          </a:prstGeom>
          <a:solidFill>
            <a:srgbClr val="1E7A5E"/>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eiryo"/>
                <a:ea typeface="Meiryo"/>
              </a:rPr>
              <a:t>4</a:t>
            </a:r>
          </a:p>
        </p:txBody>
      </p:sp>
      <p:sp>
        <p:nvSpPr>
          <p:cNvPr id="25" name="Oval 24"/>
          <p:cNvSpPr/>
          <p:nvPr/>
        </p:nvSpPr>
        <p:spPr>
          <a:xfrm>
            <a:off x="3817620" y="3488436"/>
            <a:ext cx="512064" cy="512064"/>
          </a:xfrm>
          <a:prstGeom prst="ellipse">
            <a:avLst/>
          </a:prstGeom>
          <a:solidFill>
            <a:srgbClr val="1E7A5E"/>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eiryo"/>
                <a:ea typeface="Meiryo"/>
              </a:rPr>
              <a:t>4</a:t>
            </a:r>
          </a:p>
        </p:txBody>
      </p:sp>
      <p:sp>
        <p:nvSpPr>
          <p:cNvPr id="26" name="Oval 25"/>
          <p:cNvSpPr/>
          <p:nvPr/>
        </p:nvSpPr>
        <p:spPr>
          <a:xfrm>
            <a:off x="1600200" y="4491990"/>
            <a:ext cx="512064" cy="512064"/>
          </a:xfrm>
          <a:prstGeom prst="ellipse">
            <a:avLst/>
          </a:prstGeom>
          <a:solidFill>
            <a:srgbClr val="1E7A5E"/>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eiryo"/>
                <a:ea typeface="Meiryo"/>
              </a:rPr>
              <a:t>3</a:t>
            </a:r>
          </a:p>
        </p:txBody>
      </p:sp>
      <p:sp>
        <p:nvSpPr>
          <p:cNvPr id="27" name="Oval 26"/>
          <p:cNvSpPr/>
          <p:nvPr/>
        </p:nvSpPr>
        <p:spPr>
          <a:xfrm>
            <a:off x="4128516" y="3488436"/>
            <a:ext cx="512064" cy="512064"/>
          </a:xfrm>
          <a:prstGeom prst="ellipse">
            <a:avLst/>
          </a:prstGeom>
          <a:solidFill>
            <a:srgbClr val="1E7A5E"/>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eiryo"/>
                <a:ea typeface="Meiryo"/>
              </a:rPr>
              <a:t>4</a:t>
            </a:r>
          </a:p>
        </p:txBody>
      </p:sp>
      <p:sp>
        <p:nvSpPr>
          <p:cNvPr id="28" name="Oval 27"/>
          <p:cNvSpPr/>
          <p:nvPr/>
        </p:nvSpPr>
        <p:spPr>
          <a:xfrm>
            <a:off x="1600200" y="5495544"/>
            <a:ext cx="512064" cy="512064"/>
          </a:xfrm>
          <a:prstGeom prst="ellipse">
            <a:avLst/>
          </a:prstGeom>
          <a:solidFill>
            <a:srgbClr val="1E7A5E"/>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eiryo"/>
                <a:ea typeface="Meiryo"/>
              </a:rPr>
              <a:t>1</a:t>
            </a:r>
          </a:p>
        </p:txBody>
      </p:sp>
      <p:sp>
        <p:nvSpPr>
          <p:cNvPr id="29" name="Oval 28"/>
          <p:cNvSpPr/>
          <p:nvPr/>
        </p:nvSpPr>
        <p:spPr>
          <a:xfrm>
            <a:off x="3506724" y="4491990"/>
            <a:ext cx="512064" cy="512064"/>
          </a:xfrm>
          <a:prstGeom prst="ellipse">
            <a:avLst/>
          </a:prstGeom>
          <a:solidFill>
            <a:srgbClr val="1E7A5E"/>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eiryo"/>
                <a:ea typeface="Meiryo"/>
              </a:rPr>
              <a:t>2</a:t>
            </a:r>
          </a:p>
        </p:txBody>
      </p:sp>
      <p:sp>
        <p:nvSpPr>
          <p:cNvPr id="30" name="Oval 29"/>
          <p:cNvSpPr/>
          <p:nvPr/>
        </p:nvSpPr>
        <p:spPr>
          <a:xfrm>
            <a:off x="1600200" y="1481328"/>
            <a:ext cx="512064" cy="512064"/>
          </a:xfrm>
          <a:prstGeom prst="ellipse">
            <a:avLst/>
          </a:prstGeom>
          <a:solidFill>
            <a:srgbClr val="2B579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eiryo"/>
                <a:ea typeface="Meiryo"/>
              </a:rPr>
              <a:t>9</a:t>
            </a:r>
          </a:p>
        </p:txBody>
      </p:sp>
      <p:sp>
        <p:nvSpPr>
          <p:cNvPr id="31" name="Oval 30"/>
          <p:cNvSpPr/>
          <p:nvPr/>
        </p:nvSpPr>
        <p:spPr>
          <a:xfrm>
            <a:off x="3506724" y="2484882"/>
            <a:ext cx="512064" cy="512064"/>
          </a:xfrm>
          <a:prstGeom prst="ellipse">
            <a:avLst/>
          </a:prstGeom>
          <a:solidFill>
            <a:srgbClr val="2B579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eiryo"/>
                <a:ea typeface="Meiryo"/>
              </a:rPr>
              <a:t>6</a:t>
            </a:r>
          </a:p>
        </p:txBody>
      </p:sp>
      <p:sp>
        <p:nvSpPr>
          <p:cNvPr id="32" name="Oval 31"/>
          <p:cNvSpPr/>
          <p:nvPr/>
        </p:nvSpPr>
        <p:spPr>
          <a:xfrm>
            <a:off x="1600200" y="3488436"/>
            <a:ext cx="512064" cy="512064"/>
          </a:xfrm>
          <a:prstGeom prst="ellipse">
            <a:avLst/>
          </a:prstGeom>
          <a:solidFill>
            <a:srgbClr val="2B579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eiryo"/>
                <a:ea typeface="Meiryo"/>
              </a:rPr>
              <a:t>5</a:t>
            </a:r>
          </a:p>
        </p:txBody>
      </p:sp>
      <p:sp>
        <p:nvSpPr>
          <p:cNvPr id="33" name="Oval 32"/>
          <p:cNvSpPr/>
          <p:nvPr/>
        </p:nvSpPr>
        <p:spPr>
          <a:xfrm>
            <a:off x="4439412" y="3488436"/>
            <a:ext cx="512064" cy="512064"/>
          </a:xfrm>
          <a:prstGeom prst="ellipse">
            <a:avLst/>
          </a:prstGeom>
          <a:solidFill>
            <a:srgbClr val="2B579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eiryo"/>
                <a:ea typeface="Meiryo"/>
              </a:rPr>
              <a:t>4</a:t>
            </a:r>
          </a:p>
        </p:txBody>
      </p:sp>
      <p:sp>
        <p:nvSpPr>
          <p:cNvPr id="34" name="Oval 33"/>
          <p:cNvSpPr/>
          <p:nvPr/>
        </p:nvSpPr>
        <p:spPr>
          <a:xfrm>
            <a:off x="5413248" y="2484882"/>
            <a:ext cx="512064" cy="512064"/>
          </a:xfrm>
          <a:prstGeom prst="ellipse">
            <a:avLst/>
          </a:prstGeom>
          <a:solidFill>
            <a:srgbClr val="2B579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eiryo"/>
                <a:ea typeface="Meiryo"/>
              </a:rPr>
              <a:t>5</a:t>
            </a:r>
          </a:p>
        </p:txBody>
      </p:sp>
      <p:sp>
        <p:nvSpPr>
          <p:cNvPr id="35" name="Oval 34"/>
          <p:cNvSpPr/>
          <p:nvPr/>
        </p:nvSpPr>
        <p:spPr>
          <a:xfrm>
            <a:off x="1911096" y="3488436"/>
            <a:ext cx="512064" cy="512064"/>
          </a:xfrm>
          <a:prstGeom prst="ellipse">
            <a:avLst/>
          </a:prstGeom>
          <a:solidFill>
            <a:srgbClr val="2B579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eiryo"/>
                <a:ea typeface="Meiryo"/>
              </a:rPr>
              <a:t>5</a:t>
            </a:r>
          </a:p>
        </p:txBody>
      </p:sp>
      <p:sp>
        <p:nvSpPr>
          <p:cNvPr id="36" name="Rectangle 35"/>
          <p:cNvSpPr/>
          <p:nvPr/>
        </p:nvSpPr>
        <p:spPr>
          <a:xfrm>
            <a:off x="10058400" y="1481328"/>
            <a:ext cx="1874519" cy="2286000"/>
          </a:xfrm>
          <a:prstGeom prst="rect">
            <a:avLst/>
          </a:prstGeom>
          <a:solidFill>
            <a:srgbClr val="F5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22992" y="1627632"/>
            <a:ext cx="1554480" cy="365760"/>
          </a:xfrm>
          <a:prstGeom prst="rect">
            <a:avLst/>
          </a:prstGeom>
          <a:noFill/>
        </p:spPr>
        <p:txBody>
          <a:bodyPr wrap="square" anchor="t" lIns="50800" rIns="50800" tIns="25400" bIns="25400">
            <a:spAutoFit/>
          </a:bodyPr>
          <a:lstStyle/>
          <a:p>
            <a:pPr algn="l">
              <a:lnSpc>
                <a:spcPct val="110000"/>
              </a:lnSpc>
              <a:spcAft>
                <a:spcPts val="400"/>
              </a:spcAft>
            </a:pPr>
            <a:r>
              <a:rPr sz="1500" b="1">
                <a:solidFill>
                  <a:srgbClr val="10162C"/>
                </a:solidFill>
                <a:latin typeface="Meiryo"/>
                <a:ea typeface="Meiryo"/>
              </a:rPr>
              <a:t>凡例</a:t>
            </a:r>
          </a:p>
        </p:txBody>
      </p:sp>
      <p:sp>
        <p:nvSpPr>
          <p:cNvPr id="38" name="TextBox 37"/>
          <p:cNvSpPr txBox="1"/>
          <p:nvPr/>
        </p:nvSpPr>
        <p:spPr>
          <a:xfrm>
            <a:off x="10222992" y="2011680"/>
            <a:ext cx="1600200" cy="548640"/>
          </a:xfrm>
          <a:prstGeom prst="rect">
            <a:avLst/>
          </a:prstGeom>
          <a:noFill/>
        </p:spPr>
        <p:txBody>
          <a:bodyPr wrap="square" anchor="t" lIns="50800" rIns="50800" tIns="25400" bIns="25400">
            <a:spAutoFit/>
          </a:bodyPr>
          <a:lstStyle/>
          <a:p>
            <a:pPr algn="l">
              <a:lnSpc>
                <a:spcPct val="115000"/>
              </a:lnSpc>
              <a:spcAft>
                <a:spcPts val="400"/>
              </a:spcAft>
            </a:pPr>
            <a:r>
              <a:rPr sz="1200" b="0">
                <a:solidFill>
                  <a:srgbClr val="3C4357"/>
                </a:solidFill>
                <a:latin typeface="Meiryo"/>
                <a:ea typeface="Meiryo"/>
              </a:rPr>
              <a:t>バブル内の数字
＝ 優先度スコア</a:t>
            </a:r>
          </a:p>
        </p:txBody>
      </p:sp>
      <p:sp>
        <p:nvSpPr>
          <p:cNvPr id="39" name="Oval 38"/>
          <p:cNvSpPr/>
          <p:nvPr/>
        </p:nvSpPr>
        <p:spPr>
          <a:xfrm>
            <a:off x="10222992" y="2788920"/>
            <a:ext cx="256032" cy="256032"/>
          </a:xfrm>
          <a:prstGeom prst="ellipse">
            <a:avLst/>
          </a:prstGeom>
          <a:solidFill>
            <a:srgbClr val="1E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561320" y="2752344"/>
            <a:ext cx="1371600" cy="329184"/>
          </a:xfrm>
          <a:prstGeom prst="rect">
            <a:avLst/>
          </a:prstGeom>
          <a:noFill/>
        </p:spPr>
        <p:txBody>
          <a:bodyPr wrap="square" anchor="ctr" lIns="50800" rIns="50800" tIns="25400" bIns="25400">
            <a:spAutoFit/>
          </a:bodyPr>
          <a:lstStyle/>
          <a:p>
            <a:pPr algn="l">
              <a:lnSpc>
                <a:spcPct val="110000"/>
              </a:lnSpc>
              <a:spcAft>
                <a:spcPts val="400"/>
              </a:spcAft>
            </a:pPr>
            <a:r>
              <a:rPr sz="1300" b="1">
                <a:solidFill>
                  <a:srgbClr val="10162C"/>
                </a:solidFill>
                <a:latin typeface="Meiryo"/>
                <a:ea typeface="Meiryo"/>
              </a:rPr>
              <a:t>自動化推奨</a:t>
            </a:r>
          </a:p>
        </p:txBody>
      </p:sp>
      <p:sp>
        <p:nvSpPr>
          <p:cNvPr id="41" name="Oval 40"/>
          <p:cNvSpPr/>
          <p:nvPr/>
        </p:nvSpPr>
        <p:spPr>
          <a:xfrm>
            <a:off x="10222992" y="3200400"/>
            <a:ext cx="256032" cy="256032"/>
          </a:xfrm>
          <a:prstGeom prst="ellipse">
            <a:avLst/>
          </a:prstGeom>
          <a:solidFill>
            <a:srgbClr val="2B5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61320" y="3163824"/>
            <a:ext cx="1371600" cy="329184"/>
          </a:xfrm>
          <a:prstGeom prst="rect">
            <a:avLst/>
          </a:prstGeom>
          <a:noFill/>
        </p:spPr>
        <p:txBody>
          <a:bodyPr wrap="square" anchor="ctr" lIns="50800" rIns="50800" tIns="25400" bIns="25400">
            <a:spAutoFit/>
          </a:bodyPr>
          <a:lstStyle/>
          <a:p>
            <a:pPr algn="l">
              <a:lnSpc>
                <a:spcPct val="110000"/>
              </a:lnSpc>
              <a:spcAft>
                <a:spcPts val="400"/>
              </a:spcAft>
            </a:pPr>
            <a:r>
              <a:rPr sz="1300" b="1">
                <a:solidFill>
                  <a:srgbClr val="10162C"/>
                </a:solidFill>
                <a:latin typeface="Meiryo"/>
                <a:ea typeface="Meiryo"/>
              </a:rPr>
              <a:t>協働</a:t>
            </a:r>
          </a:p>
        </p:txBody>
      </p:sp>
      <p:sp>
        <p:nvSpPr>
          <p:cNvPr id="43" name="TextBox 42"/>
          <p:cNvSpPr txBox="1"/>
          <p:nvPr/>
        </p:nvSpPr>
        <p:spPr>
          <a:xfrm>
            <a:off x="10222992" y="3657600"/>
            <a:ext cx="1645920" cy="548640"/>
          </a:xfrm>
          <a:prstGeom prst="rect">
            <a:avLst/>
          </a:prstGeom>
          <a:noFill/>
        </p:spPr>
        <p:txBody>
          <a:bodyPr wrap="square" anchor="t" lIns="50800" rIns="50800" tIns="25400" bIns="25400">
            <a:spAutoFit/>
          </a:bodyPr>
          <a:lstStyle/>
          <a:p>
            <a:pPr algn="l">
              <a:lnSpc>
                <a:spcPct val="115000"/>
              </a:lnSpc>
              <a:spcAft>
                <a:spcPts val="400"/>
              </a:spcAft>
            </a:pPr>
            <a:r>
              <a:rPr sz="1100" b="0">
                <a:solidFill>
                  <a:srgbClr val="8A95AC"/>
                </a:solidFill>
                <a:latin typeface="Meiryo"/>
                <a:ea typeface="Meiryo"/>
              </a:rPr>
              <a:t>優先度 = 売上×2 − 難易度</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87552"/>
          </a:xfrm>
          <a:prstGeom prst="rect">
            <a:avLst/>
          </a:prstGeom>
          <a:solidFill>
            <a:srgbClr val="22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987552"/>
          </a:xfrm>
          <a:prstGeom prst="rect">
            <a:avLst/>
          </a:prstGeom>
          <a:solidFill>
            <a:srgbClr val="E06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87552"/>
            <a:ext cx="12191695" cy="30480"/>
          </a:xfrm>
          <a:prstGeom prst="rect">
            <a:avLst/>
          </a:prstGeom>
          <a:solidFill>
            <a:srgbClr val="C6A0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0"/>
            <a:ext cx="10424160" cy="987552"/>
          </a:xfrm>
          <a:prstGeom prst="rect">
            <a:avLst/>
          </a:prstGeom>
          <a:noFill/>
        </p:spPr>
        <p:txBody>
          <a:bodyPr wrap="square" anchor="ctr" lIns="50800" rIns="50800" tIns="25400" bIns="25400">
            <a:spAutoFit/>
          </a:bodyPr>
          <a:lstStyle/>
          <a:p>
            <a:pPr algn="l">
              <a:lnSpc>
                <a:spcPct val="110000"/>
              </a:lnSpc>
              <a:spcAft>
                <a:spcPts val="400"/>
              </a:spcAft>
            </a:pPr>
            <a:r>
              <a:rPr sz="3000" b="1">
                <a:solidFill>
                  <a:srgbClr val="FFFFFF"/>
                </a:solidFill>
                <a:latin typeface="Meiryo"/>
                <a:ea typeface="Meiryo"/>
              </a:rPr>
              <a:t>実装ロードマップ（3 フェーズ）</a:t>
            </a:r>
          </a:p>
        </p:txBody>
      </p:sp>
      <p:cxnSp>
        <p:nvCxnSpPr>
          <p:cNvPr id="7" name="Connector 6"/>
          <p:cNvCxnSpPr/>
          <p:nvPr/>
        </p:nvCxnSpPr>
        <p:spPr>
          <a:xfrm>
            <a:off x="502920" y="6437376"/>
            <a:ext cx="11183112" cy="0"/>
          </a:xfrm>
          <a:prstGeom prst="bentConnector3">
            <a:avLst/>
          </a:prstGeom>
          <a:ln w="9525">
            <a:solidFill>
              <a:srgbClr val="D5DAE5"/>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7315200" cy="310896"/>
          </a:xfrm>
          <a:prstGeom prst="rect">
            <a:avLst/>
          </a:prstGeom>
          <a:noFill/>
        </p:spPr>
        <p:txBody>
          <a:bodyPr wrap="square" anchor="ctr" lIns="50800" rIns="50800" tIns="25400" bIns="25400">
            <a:spAutoFit/>
          </a:bodyPr>
          <a:lstStyle/>
          <a:p>
            <a:pPr algn="l">
              <a:lnSpc>
                <a:spcPct val="110000"/>
              </a:lnSpc>
              <a:spcAft>
                <a:spcPts val="400"/>
              </a:spcAft>
            </a:pPr>
            <a:r>
              <a:rPr sz="1100" b="0">
                <a:solidFill>
                  <a:srgbClr val="8A95AC"/>
                </a:solidFill>
                <a:latin typeface="Meiryo"/>
                <a:ea typeface="Meiryo"/>
              </a:rPr>
              <a:t>株式会社コミクス　│　AI 業務トリアージ</a:t>
            </a:r>
          </a:p>
        </p:txBody>
      </p:sp>
      <p:sp>
        <p:nvSpPr>
          <p:cNvPr id="9" name="TextBox 8"/>
          <p:cNvSpPr txBox="1"/>
          <p:nvPr/>
        </p:nvSpPr>
        <p:spPr>
          <a:xfrm>
            <a:off x="9857232" y="6473952"/>
            <a:ext cx="1828800" cy="310896"/>
          </a:xfrm>
          <a:prstGeom prst="rect">
            <a:avLst/>
          </a:prstGeom>
          <a:noFill/>
        </p:spPr>
        <p:txBody>
          <a:bodyPr wrap="square" anchor="ctr" lIns="50800" rIns="50800" tIns="25400" bIns="25400">
            <a:spAutoFit/>
          </a:bodyPr>
          <a:lstStyle/>
          <a:p>
            <a:pPr algn="r">
              <a:lnSpc>
                <a:spcPct val="110000"/>
              </a:lnSpc>
              <a:spcAft>
                <a:spcPts val="400"/>
              </a:spcAft>
            </a:pPr>
            <a:r>
              <a:rPr sz="1200" b="1">
                <a:solidFill>
                  <a:srgbClr val="394773"/>
                </a:solidFill>
                <a:latin typeface="Meiryo"/>
                <a:ea typeface="Meiryo"/>
              </a:rPr>
              <a:t>09 / 12</a:t>
            </a:r>
          </a:p>
        </p:txBody>
      </p:sp>
      <p:sp>
        <p:nvSpPr>
          <p:cNvPr id="10" name="Rectangle 9"/>
          <p:cNvSpPr/>
          <p:nvPr/>
        </p:nvSpPr>
        <p:spPr>
          <a:xfrm>
            <a:off x="502920" y="1298448"/>
            <a:ext cx="3657600" cy="4937760"/>
          </a:xfrm>
          <a:prstGeom prst="rect">
            <a:avLst/>
          </a:prstGeom>
          <a:solidFill>
            <a:srgbClr val="F5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298448"/>
            <a:ext cx="3657600" cy="1078992"/>
          </a:xfrm>
          <a:prstGeom prst="rect">
            <a:avLst/>
          </a:prstGeom>
          <a:solidFill>
            <a:srgbClr val="1E7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1444752"/>
            <a:ext cx="3200400" cy="457200"/>
          </a:xfrm>
          <a:prstGeom prst="rect">
            <a:avLst/>
          </a:prstGeom>
          <a:noFill/>
        </p:spPr>
        <p:txBody>
          <a:bodyPr wrap="square" anchor="t" lIns="50800" rIns="50800" tIns="25400" bIns="25400">
            <a:spAutoFit/>
          </a:bodyPr>
          <a:lstStyle/>
          <a:p>
            <a:pPr algn="l">
              <a:lnSpc>
                <a:spcPct val="110000"/>
              </a:lnSpc>
              <a:spcAft>
                <a:spcPts val="0"/>
              </a:spcAft>
            </a:pPr>
            <a:r>
              <a:rPr sz="2200" b="1" spc="150">
                <a:solidFill>
                  <a:srgbClr val="FFFFFF"/>
                </a:solidFill>
                <a:latin typeface="Meiryo"/>
                <a:ea typeface="Meiryo"/>
              </a:rPr>
              <a:t>PHASE 1</a:t>
            </a:r>
          </a:p>
        </p:txBody>
      </p:sp>
      <p:sp>
        <p:nvSpPr>
          <p:cNvPr id="13" name="TextBox 12"/>
          <p:cNvSpPr txBox="1"/>
          <p:nvPr/>
        </p:nvSpPr>
        <p:spPr>
          <a:xfrm>
            <a:off x="758952" y="1920240"/>
            <a:ext cx="3200400" cy="411480"/>
          </a:xfrm>
          <a:prstGeom prst="rect">
            <a:avLst/>
          </a:prstGeom>
          <a:noFill/>
        </p:spPr>
        <p:txBody>
          <a:bodyPr wrap="square" anchor="t" lIns="50800" rIns="50800" tIns="25400" bIns="25400">
            <a:spAutoFit/>
          </a:bodyPr>
          <a:lstStyle/>
          <a:p>
            <a:pPr algn="l">
              <a:lnSpc>
                <a:spcPct val="110000"/>
              </a:lnSpc>
              <a:spcAft>
                <a:spcPts val="400"/>
              </a:spcAft>
            </a:pPr>
            <a:r>
              <a:rPr sz="1700" b="1">
                <a:solidFill>
                  <a:srgbClr val="F2E8DC"/>
                </a:solidFill>
                <a:latin typeface="Meiryo"/>
                <a:ea typeface="Meiryo"/>
              </a:rPr>
              <a:t>クイックウィン</a:t>
            </a:r>
          </a:p>
        </p:txBody>
      </p:sp>
      <p:sp>
        <p:nvSpPr>
          <p:cNvPr id="14" name="TextBox 13"/>
          <p:cNvSpPr txBox="1"/>
          <p:nvPr/>
        </p:nvSpPr>
        <p:spPr>
          <a:xfrm>
            <a:off x="758952" y="2505456"/>
            <a:ext cx="3182112" cy="868680"/>
          </a:xfrm>
          <a:prstGeom prst="rect">
            <a:avLst/>
          </a:prstGeom>
          <a:noFill/>
        </p:spPr>
        <p:txBody>
          <a:bodyPr wrap="square" anchor="t" lIns="50800" rIns="50800" tIns="25400" bIns="25400">
            <a:spAutoFit/>
          </a:bodyPr>
          <a:lstStyle/>
          <a:p>
            <a:pPr algn="l">
              <a:lnSpc>
                <a:spcPct val="120000"/>
              </a:lnSpc>
              <a:spcAft>
                <a:spcPts val="400"/>
              </a:spcAft>
            </a:pPr>
            <a:r>
              <a:rPr sz="1300" b="0">
                <a:solidFill>
                  <a:srgbClr val="3C4357"/>
                </a:solidFill>
                <a:latin typeface="Meiryo"/>
                <a:ea typeface="Meiryo"/>
              </a:rPr>
              <a:t>高インパクト × 低難易度。早期成果で社内の納得を得る</a:t>
            </a:r>
          </a:p>
        </p:txBody>
      </p:sp>
      <p:sp>
        <p:nvSpPr>
          <p:cNvPr id="15" name="TextBox 14"/>
          <p:cNvSpPr txBox="1"/>
          <p:nvPr/>
        </p:nvSpPr>
        <p:spPr>
          <a:xfrm>
            <a:off x="758952" y="3419856"/>
            <a:ext cx="3200400" cy="2743200"/>
          </a:xfrm>
          <a:prstGeom prst="rect">
            <a:avLst/>
          </a:prstGeom>
          <a:noFill/>
        </p:spPr>
        <p:txBody>
          <a:bodyPr wrap="square" anchor="t" lIns="50800" rIns="50800" tIns="25400" bIns="25400">
            <a:spAutoFit/>
          </a:bodyPr>
          <a:lstStyle/>
          <a:p>
            <a:pPr algn="l">
              <a:lnSpc>
                <a:spcPct val="112000"/>
              </a:lnSpc>
              <a:spcAft>
                <a:spcPts val="800"/>
              </a:spcAft>
            </a:pPr>
            <a:r>
              <a:rPr sz="1400" b="0">
                <a:solidFill>
                  <a:srgbClr val="10162C"/>
                </a:solidFill>
                <a:latin typeface="Meiryo"/>
                <a:ea typeface="Meiryo"/>
              </a:rPr>
              <a:t>●  新規リード向け提案書ドラフト作成</a:t>
            </a:r>
          </a:p>
          <a:p>
            <a:pPr algn="l">
              <a:lnSpc>
                <a:spcPct val="112000"/>
              </a:lnSpc>
              <a:spcAft>
                <a:spcPts val="800"/>
              </a:spcAft>
            </a:pPr>
            <a:r>
              <a:rPr sz="1400" b="0">
                <a:solidFill>
                  <a:srgbClr val="10162C"/>
                </a:solidFill>
                <a:latin typeface="Meiryo"/>
                <a:ea typeface="Meiryo"/>
              </a:rPr>
              <a:t>●  デジパラ登録フリーランスと案件のマッチング候補提示</a:t>
            </a:r>
          </a:p>
          <a:p>
            <a:pPr algn="l">
              <a:lnSpc>
                <a:spcPct val="112000"/>
              </a:lnSpc>
              <a:spcAft>
                <a:spcPts val="800"/>
              </a:spcAft>
            </a:pPr>
            <a:r>
              <a:rPr sz="1400" b="0">
                <a:solidFill>
                  <a:srgbClr val="10162C"/>
                </a:solidFill>
                <a:latin typeface="Meiryo"/>
                <a:ea typeface="Meiryo"/>
              </a:rPr>
              <a:t>●  SNS・広告クリエイティブ制作の初稿</a:t>
            </a:r>
          </a:p>
          <a:p>
            <a:pPr algn="l">
              <a:lnSpc>
                <a:spcPct val="112000"/>
              </a:lnSpc>
              <a:spcAft>
                <a:spcPts val="800"/>
              </a:spcAft>
            </a:pPr>
            <a:r>
              <a:rPr sz="1400" b="0">
                <a:solidFill>
                  <a:srgbClr val="10162C"/>
                </a:solidFill>
                <a:latin typeface="Meiryo"/>
                <a:ea typeface="Meiryo"/>
              </a:rPr>
              <a:t>●  既存顧客の解約予兆分析</a:t>
            </a:r>
          </a:p>
          <a:p>
            <a:pPr algn="l">
              <a:lnSpc>
                <a:spcPct val="112000"/>
              </a:lnSpc>
              <a:spcAft>
                <a:spcPts val="800"/>
              </a:spcAft>
            </a:pPr>
            <a:r>
              <a:rPr sz="1400" b="0">
                <a:solidFill>
                  <a:srgbClr val="10162C"/>
                </a:solidFill>
                <a:latin typeface="Meiryo"/>
                <a:ea typeface="Meiryo"/>
              </a:rPr>
              <a:t>●  研修カリキュラムのカスタマイズ設計</a:t>
            </a:r>
          </a:p>
        </p:txBody>
      </p:sp>
      <p:sp>
        <p:nvSpPr>
          <p:cNvPr id="16" name="Rectangle 15"/>
          <p:cNvSpPr/>
          <p:nvPr/>
        </p:nvSpPr>
        <p:spPr>
          <a:xfrm>
            <a:off x="4407408" y="1298448"/>
            <a:ext cx="3657600" cy="4937760"/>
          </a:xfrm>
          <a:prstGeom prst="rect">
            <a:avLst/>
          </a:prstGeom>
          <a:solidFill>
            <a:srgbClr val="F5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07408" y="1298448"/>
            <a:ext cx="3657600" cy="1078992"/>
          </a:xfrm>
          <a:prstGeom prst="rect">
            <a:avLst/>
          </a:prstGeom>
          <a:solidFill>
            <a:srgbClr val="2B5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1444752"/>
            <a:ext cx="3200400" cy="457200"/>
          </a:xfrm>
          <a:prstGeom prst="rect">
            <a:avLst/>
          </a:prstGeom>
          <a:noFill/>
        </p:spPr>
        <p:txBody>
          <a:bodyPr wrap="square" anchor="t" lIns="50800" rIns="50800" tIns="25400" bIns="25400">
            <a:spAutoFit/>
          </a:bodyPr>
          <a:lstStyle/>
          <a:p>
            <a:pPr algn="l">
              <a:lnSpc>
                <a:spcPct val="110000"/>
              </a:lnSpc>
              <a:spcAft>
                <a:spcPts val="0"/>
              </a:spcAft>
            </a:pPr>
            <a:r>
              <a:rPr sz="2200" b="1" spc="150">
                <a:solidFill>
                  <a:srgbClr val="FFFFFF"/>
                </a:solidFill>
                <a:latin typeface="Meiryo"/>
                <a:ea typeface="Meiryo"/>
              </a:rPr>
              <a:t>PHASE 2</a:t>
            </a:r>
          </a:p>
        </p:txBody>
      </p:sp>
      <p:sp>
        <p:nvSpPr>
          <p:cNvPr id="19" name="TextBox 18"/>
          <p:cNvSpPr txBox="1"/>
          <p:nvPr/>
        </p:nvSpPr>
        <p:spPr>
          <a:xfrm>
            <a:off x="4663440" y="1920240"/>
            <a:ext cx="3200400" cy="411480"/>
          </a:xfrm>
          <a:prstGeom prst="rect">
            <a:avLst/>
          </a:prstGeom>
          <a:noFill/>
        </p:spPr>
        <p:txBody>
          <a:bodyPr wrap="square" anchor="t" lIns="50800" rIns="50800" tIns="25400" bIns="25400">
            <a:spAutoFit/>
          </a:bodyPr>
          <a:lstStyle/>
          <a:p>
            <a:pPr algn="l">
              <a:lnSpc>
                <a:spcPct val="110000"/>
              </a:lnSpc>
              <a:spcAft>
                <a:spcPts val="400"/>
              </a:spcAft>
            </a:pPr>
            <a:r>
              <a:rPr sz="1700" b="1">
                <a:solidFill>
                  <a:srgbClr val="F2E8DC"/>
                </a:solidFill>
                <a:latin typeface="Meiryo"/>
                <a:ea typeface="Meiryo"/>
              </a:rPr>
              <a:t>本命</a:t>
            </a:r>
          </a:p>
        </p:txBody>
      </p:sp>
      <p:sp>
        <p:nvSpPr>
          <p:cNvPr id="20" name="TextBox 19"/>
          <p:cNvSpPr txBox="1"/>
          <p:nvPr/>
        </p:nvSpPr>
        <p:spPr>
          <a:xfrm>
            <a:off x="4663440" y="2505456"/>
            <a:ext cx="3182112" cy="868680"/>
          </a:xfrm>
          <a:prstGeom prst="rect">
            <a:avLst/>
          </a:prstGeom>
          <a:noFill/>
        </p:spPr>
        <p:txBody>
          <a:bodyPr wrap="square" anchor="t" lIns="50800" rIns="50800" tIns="25400" bIns="25400">
            <a:spAutoFit/>
          </a:bodyPr>
          <a:lstStyle/>
          <a:p>
            <a:pPr algn="l">
              <a:lnSpc>
                <a:spcPct val="120000"/>
              </a:lnSpc>
              <a:spcAft>
                <a:spcPts val="400"/>
              </a:spcAft>
            </a:pPr>
            <a:r>
              <a:rPr sz="1300" b="0">
                <a:solidFill>
                  <a:srgbClr val="3C4357"/>
                </a:solidFill>
                <a:latin typeface="Meiryo"/>
                <a:ea typeface="Meiryo"/>
              </a:rPr>
              <a:t>中核業務を AI で変革。難易度中〜高だが効果大</a:t>
            </a:r>
          </a:p>
        </p:txBody>
      </p:sp>
      <p:sp>
        <p:nvSpPr>
          <p:cNvPr id="21" name="TextBox 20"/>
          <p:cNvSpPr txBox="1"/>
          <p:nvPr/>
        </p:nvSpPr>
        <p:spPr>
          <a:xfrm>
            <a:off x="4663440" y="3419856"/>
            <a:ext cx="3200400" cy="2743200"/>
          </a:xfrm>
          <a:prstGeom prst="rect">
            <a:avLst/>
          </a:prstGeom>
          <a:noFill/>
        </p:spPr>
        <p:txBody>
          <a:bodyPr wrap="square" anchor="t" lIns="50800" rIns="50800" tIns="25400" bIns="25400">
            <a:spAutoFit/>
          </a:bodyPr>
          <a:lstStyle/>
          <a:p>
            <a:pPr algn="l">
              <a:lnSpc>
                <a:spcPct val="112000"/>
              </a:lnSpc>
              <a:spcAft>
                <a:spcPts val="800"/>
              </a:spcAft>
            </a:pPr>
            <a:r>
              <a:rPr sz="1400" b="0">
                <a:solidFill>
                  <a:srgbClr val="10162C"/>
                </a:solidFill>
                <a:latin typeface="Meiryo"/>
                <a:ea typeface="Meiryo"/>
              </a:rPr>
              <a:t>●  リスティング広告運用レポート作成</a:t>
            </a:r>
          </a:p>
          <a:p>
            <a:pPr algn="l">
              <a:lnSpc>
                <a:spcPct val="112000"/>
              </a:lnSpc>
              <a:spcAft>
                <a:spcPts val="800"/>
              </a:spcAft>
            </a:pPr>
            <a:r>
              <a:rPr sz="1400" b="0">
                <a:solidFill>
                  <a:srgbClr val="10162C"/>
                </a:solidFill>
                <a:latin typeface="Meiryo"/>
                <a:ea typeface="Meiryo"/>
              </a:rPr>
              <a:t>●  kyozon掲載企業の一次スクリーニング</a:t>
            </a:r>
          </a:p>
          <a:p>
            <a:pPr algn="l">
              <a:lnSpc>
                <a:spcPct val="112000"/>
              </a:lnSpc>
              <a:spcAft>
                <a:spcPts val="800"/>
              </a:spcAft>
            </a:pPr>
            <a:r>
              <a:rPr sz="1400" b="0">
                <a:solidFill>
                  <a:srgbClr val="10162C"/>
                </a:solidFill>
                <a:latin typeface="Meiryo"/>
                <a:ea typeface="Meiryo"/>
              </a:rPr>
              <a:t>●  問い合わせ一次対応（トップ営業なれるくん活用）</a:t>
            </a:r>
          </a:p>
          <a:p>
            <a:pPr algn="l">
              <a:lnSpc>
                <a:spcPct val="112000"/>
              </a:lnSpc>
              <a:spcAft>
                <a:spcPts val="800"/>
              </a:spcAft>
            </a:pPr>
            <a:r>
              <a:rPr sz="1400" b="0">
                <a:solidFill>
                  <a:srgbClr val="10162C"/>
                </a:solidFill>
                <a:latin typeface="Meiryo"/>
                <a:ea typeface="Meiryo"/>
              </a:rPr>
              <a:t>●  SEO・検索エンジン対策の課題分析</a:t>
            </a:r>
          </a:p>
          <a:p>
            <a:pPr algn="l">
              <a:lnSpc>
                <a:spcPct val="112000"/>
              </a:lnSpc>
              <a:spcAft>
                <a:spcPts val="800"/>
              </a:spcAft>
            </a:pPr>
            <a:r>
              <a:rPr sz="1400" b="0">
                <a:solidFill>
                  <a:srgbClr val="10162C"/>
                </a:solidFill>
                <a:latin typeface="Meiryo"/>
                <a:ea typeface="Meiryo"/>
              </a:rPr>
              <a:t>●  生成AI研修資料の議事録・要約作成</a:t>
            </a:r>
          </a:p>
          <a:p>
            <a:pPr algn="l">
              <a:lnSpc>
                <a:spcPct val="112000"/>
              </a:lnSpc>
              <a:spcAft>
                <a:spcPts val="800"/>
              </a:spcAft>
            </a:pPr>
            <a:r>
              <a:rPr sz="1400" b="0">
                <a:solidFill>
                  <a:srgbClr val="10162C"/>
                </a:solidFill>
                <a:latin typeface="Meiryo"/>
                <a:ea typeface="Meiryo"/>
              </a:rPr>
              <a:t>●  経費精算・請求書処理</a:t>
            </a:r>
          </a:p>
        </p:txBody>
      </p:sp>
      <p:sp>
        <p:nvSpPr>
          <p:cNvPr id="22" name="Rectangle 21"/>
          <p:cNvSpPr/>
          <p:nvPr/>
        </p:nvSpPr>
        <p:spPr>
          <a:xfrm>
            <a:off x="8311896" y="1298448"/>
            <a:ext cx="3657600" cy="4937760"/>
          </a:xfrm>
          <a:prstGeom prst="rect">
            <a:avLst/>
          </a:prstGeom>
          <a:solidFill>
            <a:srgbClr val="F5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11896" y="1298448"/>
            <a:ext cx="3657600" cy="1078992"/>
          </a:xfrm>
          <a:prstGeom prst="rect">
            <a:avLst/>
          </a:prstGeom>
          <a:solidFill>
            <a:srgbClr val="8C3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67928" y="1444752"/>
            <a:ext cx="3200400" cy="457200"/>
          </a:xfrm>
          <a:prstGeom prst="rect">
            <a:avLst/>
          </a:prstGeom>
          <a:noFill/>
        </p:spPr>
        <p:txBody>
          <a:bodyPr wrap="square" anchor="t" lIns="50800" rIns="50800" tIns="25400" bIns="25400">
            <a:spAutoFit/>
          </a:bodyPr>
          <a:lstStyle/>
          <a:p>
            <a:pPr algn="l">
              <a:lnSpc>
                <a:spcPct val="110000"/>
              </a:lnSpc>
              <a:spcAft>
                <a:spcPts val="0"/>
              </a:spcAft>
            </a:pPr>
            <a:r>
              <a:rPr sz="2200" b="1" spc="150">
                <a:solidFill>
                  <a:srgbClr val="FFFFFF"/>
                </a:solidFill>
                <a:latin typeface="Meiryo"/>
                <a:ea typeface="Meiryo"/>
              </a:rPr>
              <a:t>PHASE 3</a:t>
            </a:r>
          </a:p>
        </p:txBody>
      </p:sp>
      <p:sp>
        <p:nvSpPr>
          <p:cNvPr id="25" name="TextBox 24"/>
          <p:cNvSpPr txBox="1"/>
          <p:nvPr/>
        </p:nvSpPr>
        <p:spPr>
          <a:xfrm>
            <a:off x="8567928" y="1920240"/>
            <a:ext cx="3200400" cy="411480"/>
          </a:xfrm>
          <a:prstGeom prst="rect">
            <a:avLst/>
          </a:prstGeom>
          <a:noFill/>
        </p:spPr>
        <p:txBody>
          <a:bodyPr wrap="square" anchor="t" lIns="50800" rIns="50800" tIns="25400" bIns="25400">
            <a:spAutoFit/>
          </a:bodyPr>
          <a:lstStyle/>
          <a:p>
            <a:pPr algn="l">
              <a:lnSpc>
                <a:spcPct val="110000"/>
              </a:lnSpc>
              <a:spcAft>
                <a:spcPts val="400"/>
              </a:spcAft>
            </a:pPr>
            <a:r>
              <a:rPr sz="1700" b="1">
                <a:solidFill>
                  <a:srgbClr val="F2E8DC"/>
                </a:solidFill>
                <a:latin typeface="Meiryo"/>
                <a:ea typeface="Meiryo"/>
              </a:rPr>
              <a:t>将来</a:t>
            </a:r>
          </a:p>
        </p:txBody>
      </p:sp>
      <p:sp>
        <p:nvSpPr>
          <p:cNvPr id="26" name="TextBox 25"/>
          <p:cNvSpPr txBox="1"/>
          <p:nvPr/>
        </p:nvSpPr>
        <p:spPr>
          <a:xfrm>
            <a:off x="8567928" y="2505456"/>
            <a:ext cx="3182112" cy="868680"/>
          </a:xfrm>
          <a:prstGeom prst="rect">
            <a:avLst/>
          </a:prstGeom>
          <a:noFill/>
        </p:spPr>
        <p:txBody>
          <a:bodyPr wrap="square" anchor="t" lIns="50800" rIns="50800" tIns="25400" bIns="25400">
            <a:spAutoFit/>
          </a:bodyPr>
          <a:lstStyle/>
          <a:p>
            <a:pPr algn="l">
              <a:lnSpc>
                <a:spcPct val="120000"/>
              </a:lnSpc>
              <a:spcAft>
                <a:spcPts val="400"/>
              </a:spcAft>
            </a:pPr>
            <a:r>
              <a:rPr sz="1300" b="0">
                <a:solidFill>
                  <a:srgbClr val="3C4357"/>
                </a:solidFill>
                <a:latin typeface="Meiryo"/>
                <a:ea typeface="Meiryo"/>
              </a:rPr>
              <a:t>投資対効果を見て段階的に導入</a:t>
            </a:r>
          </a:p>
        </p:txBody>
      </p:sp>
      <p:sp>
        <p:nvSpPr>
          <p:cNvPr id="27" name="TextBox 26"/>
          <p:cNvSpPr txBox="1"/>
          <p:nvPr/>
        </p:nvSpPr>
        <p:spPr>
          <a:xfrm>
            <a:off x="8567928" y="3419856"/>
            <a:ext cx="3200400" cy="2743200"/>
          </a:xfrm>
          <a:prstGeom prst="rect">
            <a:avLst/>
          </a:prstGeom>
          <a:noFill/>
        </p:spPr>
        <p:txBody>
          <a:bodyPr wrap="square" anchor="t" lIns="50800" rIns="50800" tIns="25400" bIns="25400">
            <a:spAutoFit/>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87552"/>
          </a:xfrm>
          <a:prstGeom prst="rect">
            <a:avLst/>
          </a:prstGeom>
          <a:solidFill>
            <a:srgbClr val="22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987552"/>
          </a:xfrm>
          <a:prstGeom prst="rect">
            <a:avLst/>
          </a:prstGeom>
          <a:solidFill>
            <a:srgbClr val="E06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87552"/>
            <a:ext cx="12191695" cy="30480"/>
          </a:xfrm>
          <a:prstGeom prst="rect">
            <a:avLst/>
          </a:prstGeom>
          <a:solidFill>
            <a:srgbClr val="C6A0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0"/>
            <a:ext cx="10424160" cy="987552"/>
          </a:xfrm>
          <a:prstGeom prst="rect">
            <a:avLst/>
          </a:prstGeom>
          <a:noFill/>
        </p:spPr>
        <p:txBody>
          <a:bodyPr wrap="square" anchor="ctr" lIns="50800" rIns="50800" tIns="25400" bIns="25400">
            <a:spAutoFit/>
          </a:bodyPr>
          <a:lstStyle/>
          <a:p>
            <a:pPr algn="l">
              <a:lnSpc>
                <a:spcPct val="110000"/>
              </a:lnSpc>
              <a:spcAft>
                <a:spcPts val="400"/>
              </a:spcAft>
            </a:pPr>
            <a:r>
              <a:rPr sz="3000" b="1">
                <a:solidFill>
                  <a:srgbClr val="FFFFFF"/>
                </a:solidFill>
                <a:latin typeface="Meiryo"/>
                <a:ea typeface="Meiryo"/>
              </a:rPr>
              <a:t>代表取締役　鈴木章裕 様 への推奨アクション</a:t>
            </a:r>
          </a:p>
        </p:txBody>
      </p:sp>
      <p:cxnSp>
        <p:nvCxnSpPr>
          <p:cNvPr id="7" name="Connector 6"/>
          <p:cNvCxnSpPr/>
          <p:nvPr/>
        </p:nvCxnSpPr>
        <p:spPr>
          <a:xfrm>
            <a:off x="502920" y="6437376"/>
            <a:ext cx="11183112" cy="0"/>
          </a:xfrm>
          <a:prstGeom prst="bentConnector3">
            <a:avLst/>
          </a:prstGeom>
          <a:ln w="9525">
            <a:solidFill>
              <a:srgbClr val="D5DAE5"/>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7315200" cy="310896"/>
          </a:xfrm>
          <a:prstGeom prst="rect">
            <a:avLst/>
          </a:prstGeom>
          <a:noFill/>
        </p:spPr>
        <p:txBody>
          <a:bodyPr wrap="square" anchor="ctr" lIns="50800" rIns="50800" tIns="25400" bIns="25400">
            <a:spAutoFit/>
          </a:bodyPr>
          <a:lstStyle/>
          <a:p>
            <a:pPr algn="l">
              <a:lnSpc>
                <a:spcPct val="110000"/>
              </a:lnSpc>
              <a:spcAft>
                <a:spcPts val="400"/>
              </a:spcAft>
            </a:pPr>
            <a:r>
              <a:rPr sz="1100" b="0">
                <a:solidFill>
                  <a:srgbClr val="8A95AC"/>
                </a:solidFill>
                <a:latin typeface="Meiryo"/>
                <a:ea typeface="Meiryo"/>
              </a:rPr>
              <a:t>株式会社コミクス　│　AI 業務トリアージ</a:t>
            </a:r>
          </a:p>
        </p:txBody>
      </p:sp>
      <p:sp>
        <p:nvSpPr>
          <p:cNvPr id="9" name="TextBox 8"/>
          <p:cNvSpPr txBox="1"/>
          <p:nvPr/>
        </p:nvSpPr>
        <p:spPr>
          <a:xfrm>
            <a:off x="9857232" y="6473952"/>
            <a:ext cx="1828800" cy="310896"/>
          </a:xfrm>
          <a:prstGeom prst="rect">
            <a:avLst/>
          </a:prstGeom>
          <a:noFill/>
        </p:spPr>
        <p:txBody>
          <a:bodyPr wrap="square" anchor="ctr" lIns="50800" rIns="50800" tIns="25400" bIns="25400">
            <a:spAutoFit/>
          </a:bodyPr>
          <a:lstStyle/>
          <a:p>
            <a:pPr algn="r">
              <a:lnSpc>
                <a:spcPct val="110000"/>
              </a:lnSpc>
              <a:spcAft>
                <a:spcPts val="400"/>
              </a:spcAft>
            </a:pPr>
            <a:r>
              <a:rPr sz="1200" b="1">
                <a:solidFill>
                  <a:srgbClr val="394773"/>
                </a:solidFill>
                <a:latin typeface="Meiryo"/>
                <a:ea typeface="Meiryo"/>
              </a:rPr>
              <a:t>10 / 12</a:t>
            </a:r>
          </a:p>
        </p:txBody>
      </p:sp>
      <p:sp>
        <p:nvSpPr>
          <p:cNvPr id="10" name="Oval 9"/>
          <p:cNvSpPr/>
          <p:nvPr/>
        </p:nvSpPr>
        <p:spPr>
          <a:xfrm>
            <a:off x="566928" y="1362456"/>
            <a:ext cx="914400" cy="914400"/>
          </a:xfrm>
          <a:prstGeom prst="ellipse">
            <a:avLst/>
          </a:prstGeom>
          <a:solidFill>
            <a:srgbClr val="222E52"/>
          </a:solidFill>
          <a:ln w="25400">
            <a:solidFill>
              <a:srgbClr val="E0662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Meiryo"/>
                <a:ea typeface="Meiryo"/>
              </a:rPr>
              <a:t>1</a:t>
            </a:r>
          </a:p>
        </p:txBody>
      </p:sp>
      <p:sp>
        <p:nvSpPr>
          <p:cNvPr id="11" name="TextBox 10"/>
          <p:cNvSpPr txBox="1"/>
          <p:nvPr/>
        </p:nvSpPr>
        <p:spPr>
          <a:xfrm>
            <a:off x="1600200" y="1325880"/>
            <a:ext cx="10058400" cy="987552"/>
          </a:xfrm>
          <a:prstGeom prst="rect">
            <a:avLst/>
          </a:prstGeom>
          <a:noFill/>
        </p:spPr>
        <p:txBody>
          <a:bodyPr wrap="square" anchor="ctr" lIns="50800" rIns="50800" tIns="25400" bIns="25400">
            <a:spAutoFit/>
          </a:bodyPr>
          <a:lstStyle/>
          <a:p>
            <a:pPr algn="l">
              <a:lnSpc>
                <a:spcPct val="115000"/>
              </a:lnSpc>
              <a:spcAft>
                <a:spcPts val="400"/>
              </a:spcAft>
            </a:pPr>
            <a:r>
              <a:rPr sz="1900" b="0">
                <a:solidFill>
                  <a:srgbClr val="10162C"/>
                </a:solidFill>
                <a:latin typeface="Meiryo"/>
                <a:ea typeface="Meiryo"/>
              </a:rPr>
              <a:t>提案書ドラフト作成にClaudeを導入し、営業担当の仕上げ工程に集中させて商談化速度を上げる</a:t>
            </a:r>
          </a:p>
        </p:txBody>
      </p:sp>
      <p:sp>
        <p:nvSpPr>
          <p:cNvPr id="12" name="Oval 11"/>
          <p:cNvSpPr/>
          <p:nvPr/>
        </p:nvSpPr>
        <p:spPr>
          <a:xfrm>
            <a:off x="566928" y="2350008"/>
            <a:ext cx="914400" cy="914400"/>
          </a:xfrm>
          <a:prstGeom prst="ellipse">
            <a:avLst/>
          </a:prstGeom>
          <a:solidFill>
            <a:srgbClr val="222E52"/>
          </a:solidFill>
          <a:ln w="25400">
            <a:solidFill>
              <a:srgbClr val="E0662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Meiryo"/>
                <a:ea typeface="Meiryo"/>
              </a:rPr>
              <a:t>2</a:t>
            </a:r>
          </a:p>
        </p:txBody>
      </p:sp>
      <p:sp>
        <p:nvSpPr>
          <p:cNvPr id="13" name="TextBox 12"/>
          <p:cNvSpPr txBox="1"/>
          <p:nvPr/>
        </p:nvSpPr>
        <p:spPr>
          <a:xfrm>
            <a:off x="1600200" y="2313432"/>
            <a:ext cx="10058400" cy="987552"/>
          </a:xfrm>
          <a:prstGeom prst="rect">
            <a:avLst/>
          </a:prstGeom>
          <a:noFill/>
        </p:spPr>
        <p:txBody>
          <a:bodyPr wrap="square" anchor="ctr" lIns="50800" rIns="50800" tIns="25400" bIns="25400">
            <a:spAutoFit/>
          </a:bodyPr>
          <a:lstStyle/>
          <a:p>
            <a:pPr algn="l">
              <a:lnSpc>
                <a:spcPct val="115000"/>
              </a:lnSpc>
              <a:spcAft>
                <a:spcPts val="400"/>
              </a:spcAft>
            </a:pPr>
            <a:r>
              <a:rPr sz="1900" b="0">
                <a:solidFill>
                  <a:srgbClr val="10162C"/>
                </a:solidFill>
                <a:latin typeface="Meiryo"/>
                <a:ea typeface="Meiryo"/>
              </a:rPr>
              <a:t>リスティング広告レポートとkyozon一次スクリーニングを自動化し月次の定型工数を圧縮する</a:t>
            </a:r>
          </a:p>
        </p:txBody>
      </p:sp>
      <p:sp>
        <p:nvSpPr>
          <p:cNvPr id="14" name="Oval 13"/>
          <p:cNvSpPr/>
          <p:nvPr/>
        </p:nvSpPr>
        <p:spPr>
          <a:xfrm>
            <a:off x="566928" y="3337560"/>
            <a:ext cx="914400" cy="914400"/>
          </a:xfrm>
          <a:prstGeom prst="ellipse">
            <a:avLst/>
          </a:prstGeom>
          <a:solidFill>
            <a:srgbClr val="222E52"/>
          </a:solidFill>
          <a:ln w="25400">
            <a:solidFill>
              <a:srgbClr val="E0662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Meiryo"/>
                <a:ea typeface="Meiryo"/>
              </a:rPr>
              <a:t>3</a:t>
            </a:r>
          </a:p>
        </p:txBody>
      </p:sp>
      <p:sp>
        <p:nvSpPr>
          <p:cNvPr id="15" name="TextBox 14"/>
          <p:cNvSpPr txBox="1"/>
          <p:nvPr/>
        </p:nvSpPr>
        <p:spPr>
          <a:xfrm>
            <a:off x="1600200" y="3300984"/>
            <a:ext cx="10058400" cy="987552"/>
          </a:xfrm>
          <a:prstGeom prst="rect">
            <a:avLst/>
          </a:prstGeom>
          <a:noFill/>
        </p:spPr>
        <p:txBody>
          <a:bodyPr wrap="square" anchor="ctr" lIns="50800" rIns="50800" tIns="25400" bIns="25400">
            <a:spAutoFit/>
          </a:bodyPr>
          <a:lstStyle/>
          <a:p>
            <a:pPr algn="l">
              <a:lnSpc>
                <a:spcPct val="115000"/>
              </a:lnSpc>
              <a:spcAft>
                <a:spcPts val="400"/>
              </a:spcAft>
            </a:pPr>
            <a:r>
              <a:rPr sz="1900" b="0">
                <a:solidFill>
                  <a:srgbClr val="10162C"/>
                </a:solidFill>
                <a:latin typeface="Meiryo"/>
                <a:ea typeface="Meiryo"/>
              </a:rPr>
              <a:t>トップ営業なれるくんを自社の一次問い合わせ対応にも横展開しリード取りこぼしを防ぐ</a:t>
            </a:r>
          </a:p>
        </p:txBody>
      </p:sp>
      <p:sp>
        <p:nvSpPr>
          <p:cNvPr id="16" name="Oval 15"/>
          <p:cNvSpPr/>
          <p:nvPr/>
        </p:nvSpPr>
        <p:spPr>
          <a:xfrm>
            <a:off x="566928" y="4325112"/>
            <a:ext cx="914400" cy="914400"/>
          </a:xfrm>
          <a:prstGeom prst="ellipse">
            <a:avLst/>
          </a:prstGeom>
          <a:solidFill>
            <a:srgbClr val="222E52"/>
          </a:solidFill>
          <a:ln w="25400">
            <a:solidFill>
              <a:srgbClr val="E0662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Meiryo"/>
                <a:ea typeface="Meiryo"/>
              </a:rPr>
              <a:t>4</a:t>
            </a:r>
          </a:p>
        </p:txBody>
      </p:sp>
      <p:sp>
        <p:nvSpPr>
          <p:cNvPr id="17" name="TextBox 16"/>
          <p:cNvSpPr txBox="1"/>
          <p:nvPr/>
        </p:nvSpPr>
        <p:spPr>
          <a:xfrm>
            <a:off x="1600200" y="4288536"/>
            <a:ext cx="10058400" cy="987552"/>
          </a:xfrm>
          <a:prstGeom prst="rect">
            <a:avLst/>
          </a:prstGeom>
          <a:noFill/>
        </p:spPr>
        <p:txBody>
          <a:bodyPr wrap="square" anchor="ctr" lIns="50800" rIns="50800" tIns="25400" bIns="25400">
            <a:spAutoFit/>
          </a:bodyPr>
          <a:lstStyle/>
          <a:p>
            <a:pPr algn="l">
              <a:lnSpc>
                <a:spcPct val="115000"/>
              </a:lnSpc>
              <a:spcAft>
                <a:spcPts val="400"/>
              </a:spcAft>
            </a:pPr>
            <a:r>
              <a:rPr sz="1900" b="0">
                <a:solidFill>
                  <a:srgbClr val="10162C"/>
                </a:solidFill>
                <a:latin typeface="Meiryo"/>
                <a:ea typeface="Meiryo"/>
              </a:rPr>
              <a:t>解約予兆分析を導入し既存顧客フォローの優先順位づけを高度化する</a:t>
            </a:r>
          </a:p>
        </p:txBody>
      </p:sp>
      <p:sp>
        <p:nvSpPr>
          <p:cNvPr id="18" name="Oval 17"/>
          <p:cNvSpPr/>
          <p:nvPr/>
        </p:nvSpPr>
        <p:spPr>
          <a:xfrm>
            <a:off x="566928" y="5312664"/>
            <a:ext cx="914400" cy="914400"/>
          </a:xfrm>
          <a:prstGeom prst="ellipse">
            <a:avLst/>
          </a:prstGeom>
          <a:solidFill>
            <a:srgbClr val="222E52"/>
          </a:solidFill>
          <a:ln w="25400">
            <a:solidFill>
              <a:srgbClr val="E0662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Meiryo"/>
                <a:ea typeface="Meiryo"/>
              </a:rPr>
              <a:t>5</a:t>
            </a:r>
          </a:p>
        </p:txBody>
      </p:sp>
      <p:sp>
        <p:nvSpPr>
          <p:cNvPr id="19" name="TextBox 18"/>
          <p:cNvSpPr txBox="1"/>
          <p:nvPr/>
        </p:nvSpPr>
        <p:spPr>
          <a:xfrm>
            <a:off x="1600200" y="5276088"/>
            <a:ext cx="10058400" cy="987552"/>
          </a:xfrm>
          <a:prstGeom prst="rect">
            <a:avLst/>
          </a:prstGeom>
          <a:noFill/>
        </p:spPr>
        <p:txBody>
          <a:bodyPr wrap="square" anchor="ctr" lIns="50800" rIns="50800" tIns="25400" bIns="25400">
            <a:spAutoFit/>
          </a:bodyPr>
          <a:lstStyle/>
          <a:p>
            <a:pPr algn="l">
              <a:lnSpc>
                <a:spcPct val="115000"/>
              </a:lnSpc>
              <a:spcAft>
                <a:spcPts val="400"/>
              </a:spcAft>
            </a:pPr>
            <a:r>
              <a:rPr sz="1900" b="0">
                <a:solidFill>
                  <a:srgbClr val="10162C"/>
                </a:solidFill>
                <a:latin typeface="Meiryo"/>
                <a:ea typeface="Meiryo"/>
              </a:rPr>
              <a:t>商談・クレーム対応・採用最終判断は人専任と明確化し、AI活用の説明責任を経営層に持たせる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87552"/>
          </a:xfrm>
          <a:prstGeom prst="rect">
            <a:avLst/>
          </a:prstGeom>
          <a:solidFill>
            <a:srgbClr val="22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987552"/>
          </a:xfrm>
          <a:prstGeom prst="rect">
            <a:avLst/>
          </a:prstGeom>
          <a:solidFill>
            <a:srgbClr val="E06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87552"/>
            <a:ext cx="12191695" cy="30480"/>
          </a:xfrm>
          <a:prstGeom prst="rect">
            <a:avLst/>
          </a:prstGeom>
          <a:solidFill>
            <a:srgbClr val="C6A0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0"/>
            <a:ext cx="10424160" cy="987552"/>
          </a:xfrm>
          <a:prstGeom prst="rect">
            <a:avLst/>
          </a:prstGeom>
          <a:noFill/>
        </p:spPr>
        <p:txBody>
          <a:bodyPr wrap="square" anchor="ctr" lIns="50800" rIns="50800" tIns="25400" bIns="25400">
            <a:spAutoFit/>
          </a:bodyPr>
          <a:lstStyle/>
          <a:p>
            <a:pPr algn="l">
              <a:lnSpc>
                <a:spcPct val="110000"/>
              </a:lnSpc>
              <a:spcAft>
                <a:spcPts val="400"/>
              </a:spcAft>
            </a:pPr>
            <a:r>
              <a:rPr sz="3000" b="1">
                <a:solidFill>
                  <a:srgbClr val="FFFFFF"/>
                </a:solidFill>
                <a:latin typeface="Meiryo"/>
                <a:ea typeface="Meiryo"/>
              </a:rPr>
              <a:t>データソース</a:t>
            </a:r>
          </a:p>
        </p:txBody>
      </p:sp>
      <p:cxnSp>
        <p:nvCxnSpPr>
          <p:cNvPr id="7" name="Connector 6"/>
          <p:cNvCxnSpPr/>
          <p:nvPr/>
        </p:nvCxnSpPr>
        <p:spPr>
          <a:xfrm>
            <a:off x="502920" y="6437376"/>
            <a:ext cx="11183112" cy="0"/>
          </a:xfrm>
          <a:prstGeom prst="bentConnector3">
            <a:avLst/>
          </a:prstGeom>
          <a:ln w="9525">
            <a:solidFill>
              <a:srgbClr val="D5DAE5"/>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7315200" cy="310896"/>
          </a:xfrm>
          <a:prstGeom prst="rect">
            <a:avLst/>
          </a:prstGeom>
          <a:noFill/>
        </p:spPr>
        <p:txBody>
          <a:bodyPr wrap="square" anchor="ctr" lIns="50800" rIns="50800" tIns="25400" bIns="25400">
            <a:spAutoFit/>
          </a:bodyPr>
          <a:lstStyle/>
          <a:p>
            <a:pPr algn="l">
              <a:lnSpc>
                <a:spcPct val="110000"/>
              </a:lnSpc>
              <a:spcAft>
                <a:spcPts val="400"/>
              </a:spcAft>
            </a:pPr>
            <a:r>
              <a:rPr sz="1100" b="0">
                <a:solidFill>
                  <a:srgbClr val="8A95AC"/>
                </a:solidFill>
                <a:latin typeface="Meiryo"/>
                <a:ea typeface="Meiryo"/>
              </a:rPr>
              <a:t>株式会社コミクス　│　AI 業務トリアージ</a:t>
            </a:r>
          </a:p>
        </p:txBody>
      </p:sp>
      <p:sp>
        <p:nvSpPr>
          <p:cNvPr id="9" name="TextBox 8"/>
          <p:cNvSpPr txBox="1"/>
          <p:nvPr/>
        </p:nvSpPr>
        <p:spPr>
          <a:xfrm>
            <a:off x="9857232" y="6473952"/>
            <a:ext cx="1828800" cy="310896"/>
          </a:xfrm>
          <a:prstGeom prst="rect">
            <a:avLst/>
          </a:prstGeom>
          <a:noFill/>
        </p:spPr>
        <p:txBody>
          <a:bodyPr wrap="square" anchor="ctr" lIns="50800" rIns="50800" tIns="25400" bIns="25400">
            <a:spAutoFit/>
          </a:bodyPr>
          <a:lstStyle/>
          <a:p>
            <a:pPr algn="r">
              <a:lnSpc>
                <a:spcPct val="110000"/>
              </a:lnSpc>
              <a:spcAft>
                <a:spcPts val="400"/>
              </a:spcAft>
            </a:pPr>
            <a:r>
              <a:rPr sz="1200" b="1">
                <a:solidFill>
                  <a:srgbClr val="394773"/>
                </a:solidFill>
                <a:latin typeface="Meiryo"/>
                <a:ea typeface="Meiryo"/>
              </a:rPr>
              <a:t>11 / 12</a:t>
            </a:r>
          </a:p>
        </p:txBody>
      </p:sp>
      <p:sp>
        <p:nvSpPr>
          <p:cNvPr id="10" name="TextBox 9"/>
          <p:cNvSpPr txBox="1"/>
          <p:nvPr/>
        </p:nvSpPr>
        <p:spPr>
          <a:xfrm>
            <a:off x="640080" y="1417320"/>
            <a:ext cx="10972800" cy="4389120"/>
          </a:xfrm>
          <a:prstGeom prst="rect">
            <a:avLst/>
          </a:prstGeom>
          <a:noFill/>
        </p:spPr>
        <p:txBody>
          <a:bodyPr wrap="square" anchor="t" lIns="50800" rIns="50800" tIns="25400" bIns="25400">
            <a:spAutoFit/>
          </a:bodyPr>
          <a:lstStyle/>
          <a:p>
            <a:pPr algn="l">
              <a:lnSpc>
                <a:spcPct val="125000"/>
              </a:lnSpc>
              <a:spcAft>
                <a:spcPts val="1400"/>
              </a:spcAft>
            </a:pPr>
            <a:r>
              <a:rPr sz="1800" b="0">
                <a:solidFill>
                  <a:srgbClr val="10162C"/>
                </a:solidFill>
                <a:latin typeface="Meiryo"/>
                <a:ea typeface="Meiryo"/>
              </a:rPr>
              <a:t>●  https://www.comix.co.jp/</a:t>
            </a:r>
          </a:p>
          <a:p>
            <a:pPr algn="l">
              <a:lnSpc>
                <a:spcPct val="125000"/>
              </a:lnSpc>
              <a:spcAft>
                <a:spcPts val="1400"/>
              </a:spcAft>
            </a:pPr>
            <a:r>
              <a:rPr sz="1800" b="0">
                <a:solidFill>
                  <a:srgbClr val="10162C"/>
                </a:solidFill>
                <a:latin typeface="Meiryo"/>
                <a:ea typeface="Meiryo"/>
              </a:rPr>
              <a:t>●  https://www.comix.co.jp/company/</a:t>
            </a:r>
          </a:p>
          <a:p>
            <a:pPr algn="l">
              <a:lnSpc>
                <a:spcPct val="125000"/>
              </a:lnSpc>
              <a:spcAft>
                <a:spcPts val="1400"/>
              </a:spcAft>
            </a:pPr>
            <a:r>
              <a:rPr sz="1800" b="0">
                <a:solidFill>
                  <a:srgbClr val="10162C"/>
                </a:solidFill>
                <a:latin typeface="Meiryo"/>
                <a:ea typeface="Meiryo"/>
              </a:rPr>
              <a:t>●  https://www.comix.co.jp/company/greeting.html</a:t>
            </a:r>
          </a:p>
          <a:p>
            <a:pPr algn="l">
              <a:lnSpc>
                <a:spcPct val="125000"/>
              </a:lnSpc>
              <a:spcAft>
                <a:spcPts val="1400"/>
              </a:spcAft>
            </a:pPr>
            <a:r>
              <a:rPr sz="1800" b="0">
                <a:solidFill>
                  <a:srgbClr val="10162C"/>
                </a:solidFill>
                <a:latin typeface="Meiryo"/>
                <a:ea typeface="Meiryo"/>
              </a:rPr>
              <a:t>●  https://www.comix.co.jp/gogo/</a:t>
            </a:r>
          </a:p>
          <a:p>
            <a:pPr algn="l">
              <a:lnSpc>
                <a:spcPct val="125000"/>
              </a:lnSpc>
              <a:spcAft>
                <a:spcPts val="1400"/>
              </a:spcAft>
            </a:pPr>
            <a:r>
              <a:rPr sz="1800" b="0">
                <a:solidFill>
                  <a:srgbClr val="10162C"/>
                </a:solidFill>
                <a:latin typeface="Meiryo"/>
                <a:ea typeface="Meiryo"/>
              </a:rPr>
              <a:t>●  https://www.comix.co.jp/top-sales/</a:t>
            </a:r>
          </a:p>
          <a:p>
            <a:pPr algn="l">
              <a:lnSpc>
                <a:spcPct val="125000"/>
              </a:lnSpc>
              <a:spcAft>
                <a:spcPts val="1400"/>
              </a:spcAft>
            </a:pPr>
            <a:r>
              <a:rPr sz="1800" b="0">
                <a:solidFill>
                  <a:srgbClr val="10162C"/>
                </a:solidFill>
                <a:latin typeface="Meiryo"/>
                <a:ea typeface="Meiryo"/>
              </a:rPr>
              <a:t>●  https://www.comix.co.jp/business_service/</a:t>
            </a:r>
          </a:p>
          <a:p>
            <a:pPr algn="l">
              <a:lnSpc>
                <a:spcPct val="125000"/>
              </a:lnSpc>
              <a:spcAft>
                <a:spcPts val="1400"/>
              </a:spcAft>
            </a:pPr>
            <a:r>
              <a:rPr sz="1800" b="0">
                <a:solidFill>
                  <a:srgbClr val="10162C"/>
                </a:solidFill>
                <a:latin typeface="Meiryo"/>
                <a:ea typeface="Meiryo"/>
              </a:rPr>
              <a:t>●  https://digipara.comix.co.jp/profile/</a:t>
            </a:r>
          </a:p>
          <a:p>
            <a:pPr algn="l">
              <a:lnSpc>
                <a:spcPct val="125000"/>
              </a:lnSpc>
              <a:spcAft>
                <a:spcPts val="1400"/>
              </a:spcAft>
            </a:pPr>
            <a:r>
              <a:rPr sz="1800" b="0">
                <a:solidFill>
                  <a:srgbClr val="10162C"/>
                </a:solidFill>
                <a:latin typeface="Meiryo"/>
                <a:ea typeface="Meiryo"/>
              </a:rPr>
              <a:t>●  https://initial.inc/companies/A-11530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87552"/>
          </a:xfrm>
          <a:prstGeom prst="rect">
            <a:avLst/>
          </a:prstGeom>
          <a:solidFill>
            <a:srgbClr val="22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987552"/>
          </a:xfrm>
          <a:prstGeom prst="rect">
            <a:avLst/>
          </a:prstGeom>
          <a:solidFill>
            <a:srgbClr val="3C4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87552"/>
            <a:ext cx="12191695" cy="30480"/>
          </a:xfrm>
          <a:prstGeom prst="rect">
            <a:avLst/>
          </a:prstGeom>
          <a:solidFill>
            <a:srgbClr val="C6A0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0"/>
            <a:ext cx="10424160" cy="987552"/>
          </a:xfrm>
          <a:prstGeom prst="rect">
            <a:avLst/>
          </a:prstGeom>
          <a:noFill/>
        </p:spPr>
        <p:txBody>
          <a:bodyPr wrap="square" anchor="ctr" lIns="50800" rIns="50800" tIns="25400" bIns="25400">
            <a:spAutoFit/>
          </a:bodyPr>
          <a:lstStyle/>
          <a:p>
            <a:pPr algn="l">
              <a:lnSpc>
                <a:spcPct val="110000"/>
              </a:lnSpc>
              <a:spcAft>
                <a:spcPts val="400"/>
              </a:spcAft>
            </a:pPr>
            <a:r>
              <a:rPr sz="3000" b="1">
                <a:solidFill>
                  <a:srgbClr val="FFFFFF"/>
                </a:solidFill>
                <a:latin typeface="Meiryo"/>
                <a:ea typeface="Meiryo"/>
              </a:rPr>
              <a:t>注意事項</a:t>
            </a:r>
          </a:p>
        </p:txBody>
      </p:sp>
      <p:cxnSp>
        <p:nvCxnSpPr>
          <p:cNvPr id="7" name="Connector 6"/>
          <p:cNvCxnSpPr/>
          <p:nvPr/>
        </p:nvCxnSpPr>
        <p:spPr>
          <a:xfrm>
            <a:off x="502920" y="6437376"/>
            <a:ext cx="11183112" cy="0"/>
          </a:xfrm>
          <a:prstGeom prst="bentConnector3">
            <a:avLst/>
          </a:prstGeom>
          <a:ln w="9525">
            <a:solidFill>
              <a:srgbClr val="D5DAE5"/>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7315200" cy="310896"/>
          </a:xfrm>
          <a:prstGeom prst="rect">
            <a:avLst/>
          </a:prstGeom>
          <a:noFill/>
        </p:spPr>
        <p:txBody>
          <a:bodyPr wrap="square" anchor="ctr" lIns="50800" rIns="50800" tIns="25400" bIns="25400">
            <a:spAutoFit/>
          </a:bodyPr>
          <a:lstStyle/>
          <a:p>
            <a:pPr algn="l">
              <a:lnSpc>
                <a:spcPct val="110000"/>
              </a:lnSpc>
              <a:spcAft>
                <a:spcPts val="400"/>
              </a:spcAft>
            </a:pPr>
            <a:r>
              <a:rPr sz="1100" b="0">
                <a:solidFill>
                  <a:srgbClr val="8A95AC"/>
                </a:solidFill>
                <a:latin typeface="Meiryo"/>
                <a:ea typeface="Meiryo"/>
              </a:rPr>
              <a:t>株式会社コミクス　│　AI 業務トリアージ</a:t>
            </a:r>
          </a:p>
        </p:txBody>
      </p:sp>
      <p:sp>
        <p:nvSpPr>
          <p:cNvPr id="9" name="TextBox 8"/>
          <p:cNvSpPr txBox="1"/>
          <p:nvPr/>
        </p:nvSpPr>
        <p:spPr>
          <a:xfrm>
            <a:off x="9857232" y="6473952"/>
            <a:ext cx="1828800" cy="310896"/>
          </a:xfrm>
          <a:prstGeom prst="rect">
            <a:avLst/>
          </a:prstGeom>
          <a:noFill/>
        </p:spPr>
        <p:txBody>
          <a:bodyPr wrap="square" anchor="ctr" lIns="50800" rIns="50800" tIns="25400" bIns="25400">
            <a:spAutoFit/>
          </a:bodyPr>
          <a:lstStyle/>
          <a:p>
            <a:pPr algn="r">
              <a:lnSpc>
                <a:spcPct val="110000"/>
              </a:lnSpc>
              <a:spcAft>
                <a:spcPts val="400"/>
              </a:spcAft>
            </a:pPr>
            <a:r>
              <a:rPr sz="1200" b="1">
                <a:solidFill>
                  <a:srgbClr val="394773"/>
                </a:solidFill>
                <a:latin typeface="Meiryo"/>
                <a:ea typeface="Meiryo"/>
              </a:rPr>
              <a:t>12 / 12</a:t>
            </a:r>
          </a:p>
        </p:txBody>
      </p:sp>
      <p:sp>
        <p:nvSpPr>
          <p:cNvPr id="10" name="TextBox 9"/>
          <p:cNvSpPr txBox="1"/>
          <p:nvPr/>
        </p:nvSpPr>
        <p:spPr>
          <a:xfrm>
            <a:off x="640080" y="1417320"/>
            <a:ext cx="10972800" cy="4846320"/>
          </a:xfrm>
          <a:prstGeom prst="rect">
            <a:avLst/>
          </a:prstGeom>
          <a:noFill/>
        </p:spPr>
        <p:txBody>
          <a:bodyPr wrap="square" anchor="t" lIns="50800" rIns="50800" tIns="25400" bIns="25400">
            <a:spAutoFit/>
          </a:bodyPr>
          <a:lstStyle/>
          <a:p>
            <a:pPr algn="l">
              <a:lnSpc>
                <a:spcPct val="122000"/>
              </a:lnSpc>
              <a:spcAft>
                <a:spcPts val="1400"/>
              </a:spcAft>
            </a:pPr>
            <a:r>
              <a:rPr sz="1700" b="0">
                <a:solidFill>
                  <a:srgbClr val="10162C"/>
                </a:solidFill>
                <a:latin typeface="Meiryo"/>
                <a:ea typeface="Meiryo"/>
              </a:rPr>
              <a:t>●  本資料は公開情報および業界一般知識に基づく初期トリアージであり、実際の業務実態とは差異が生じる可能性があります。</a:t>
            </a:r>
          </a:p>
          <a:p>
            <a:pPr algn="l">
              <a:lnSpc>
                <a:spcPct val="122000"/>
              </a:lnSpc>
              <a:spcAft>
                <a:spcPts val="1400"/>
              </a:spcAft>
            </a:pPr>
            <a:r>
              <a:rPr sz="1700" b="0">
                <a:solidFill>
                  <a:srgbClr val="10162C"/>
                </a:solidFill>
                <a:latin typeface="Meiryo"/>
                <a:ea typeface="Meiryo"/>
              </a:rPr>
              <a:t>●  優先度スコアは「売上インパクト × 2 − 実装難易度」で算出し、高売上 × 低難易度のクイックウィンを最上位に配置しています。</a:t>
            </a:r>
          </a:p>
          <a:p>
            <a:pPr algn="l">
              <a:lnSpc>
                <a:spcPct val="122000"/>
              </a:lnSpc>
              <a:spcAft>
                <a:spcPts val="1400"/>
              </a:spcAft>
            </a:pPr>
            <a:r>
              <a:rPr sz="1700" b="0">
                <a:solidFill>
                  <a:srgbClr val="10162C"/>
                </a:solidFill>
                <a:latin typeface="Meiryo"/>
                <a:ea typeface="Meiryo"/>
              </a:rPr>
              <a:t>●  「人間専任」業務は AI に代替させず人が担うべき領域として意図的に残しています。提案全体の信頼性を担保する設計です。</a:t>
            </a:r>
          </a:p>
          <a:p>
            <a:pPr algn="l">
              <a:lnSpc>
                <a:spcPct val="122000"/>
              </a:lnSpc>
              <a:spcAft>
                <a:spcPts val="1400"/>
              </a:spcAft>
            </a:pPr>
            <a:r>
              <a:rPr sz="1700" b="0">
                <a:solidFill>
                  <a:srgbClr val="10162C"/>
                </a:solidFill>
                <a:latin typeface="Meiryo"/>
                <a:ea typeface="Meiryo"/>
              </a:rPr>
              <a:t>●  導入難易度・効果は前提条件により変動します。Phase 1 着手後の実測値で Phase 2 以降を再評価することを推奨します。</a:t>
            </a:r>
          </a:p>
          <a:p>
            <a:pPr algn="l">
              <a:lnSpc>
                <a:spcPct val="122000"/>
              </a:lnSpc>
              <a:spcAft>
                <a:spcPts val="1400"/>
              </a:spcAft>
            </a:pPr>
            <a:r>
              <a:rPr sz="1700" b="0">
                <a:solidFill>
                  <a:srgbClr val="10162C"/>
                </a:solidFill>
                <a:latin typeface="Meiryo"/>
                <a:ea typeface="Meiryo"/>
              </a:rPr>
              <a:t>●  具体的なツール選定・コスト試算は、対象業務のヒアリング後に個別精緻化します。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